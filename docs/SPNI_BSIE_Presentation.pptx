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EC0"/>
                </a:solidFill>
                <a:latin typeface="Noto Sans Thai"/>
              </a:rPr>
              <a:t>สำนักงานตำรวจแห่งชาติ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Noto Sans Thai"/>
              </a:rPr>
              <a:t>SPNI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3B3ED"/>
                </a:solidFill>
                <a:latin typeface="Noto Sans Thai"/>
              </a:rPr>
              <a:t>Smart Police &amp; National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3017520"/>
            <a:ext cx="1371600" cy="381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Thai"/>
              </a:rPr>
              <a:t>โมดูลแรก: BSIE v4.0 — Bank Statement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E3F8"/>
                </a:solidFill>
                <a:latin typeface="Noto Sans Thai"/>
              </a:rPr>
              <a:t>ระบบวิเคราะห์ธุรกรรมทางการเงินอัจฉริยะ สำหรับงานสืบสวนสอบสวน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EC0"/>
                </a:solidFill>
                <a:latin typeface="Noto Sans Thai"/>
              </a:rPr>
              <a:t>เอกสารประกอบการนำเสนอเพื่อของบประมาณระดับประเทศ
จัดทำโดย ร้อยตำรวจเอกณัฐวุฒิ สาหร่ายทอง
เมษายน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SPNI Platform — ภาพรวม 4 โมดูล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EE3F8"/>
                </a:solidFill>
                <a:latin typeface="Noto Sans Thai"/>
              </a:rPr>
              <a:t>แพลตฟอร์มรวมเครื่องมือสืบสวนสอบสวนสำหรับ สตช. ทั้งประเทศ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02153" cy="1463040"/>
          </a:xfrm>
          <a:prstGeom prst="roundRect">
            <a:avLst/>
          </a:prstGeom>
          <a:solidFill>
            <a:srgbClr val="48BB7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EC0"/>
                </a:solidFill>
                <a:latin typeface="Noto Sans Thai"/>
              </a:rPr>
              <a:t>โมดูล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60215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Thai"/>
              </a:rPr>
              <a:t>BSIE — การเงิน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v4.0 พร้อมใช้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9081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B3ED"/>
                </a:solidFill>
                <a:latin typeface="Noto Sans Tha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417320"/>
            <a:ext cx="2602153" cy="1463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9393" y="14630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EC0"/>
                </a:solidFill>
                <a:latin typeface="Noto Sans Thai"/>
              </a:rPr>
              <a:t>โมดูล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9393" y="1737360"/>
            <a:ext cx="260215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Thai"/>
              </a:rPr>
              <a:t>CDR — โทรศัพท์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9393" y="21488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วางแผน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9835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B3ED"/>
                </a:solidFill>
                <a:latin typeface="Noto Sans Tha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417320"/>
            <a:ext cx="2602153" cy="1463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14630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EC0"/>
                </a:solidFill>
                <a:latin typeface="Noto Sans Thai"/>
              </a:rPr>
              <a:t>โมดูล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1737360"/>
            <a:ext cx="260215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Thai"/>
              </a:rPr>
              <a:t>Social Media 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21488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วางแผน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0589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B3ED"/>
                </a:solidFill>
                <a:latin typeface="Noto Sans Tha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0901" y="1417320"/>
            <a:ext cx="2602153" cy="1463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0901" y="14630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EC0"/>
                </a:solidFill>
                <a:latin typeface="Noto Sans Thai"/>
              </a:rPr>
              <a:t>โมดูล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0901" y="1737360"/>
            <a:ext cx="260215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Thai"/>
              </a:rPr>
              <a:t>CCTV — ภาพ/วีดีโอ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901" y="2148840"/>
            <a:ext cx="26021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วางแผน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11094415" cy="1463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Thai"/>
              </a:rPr>
              <a:t>Shared Intelligence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57600"/>
            <a:ext cx="1567129" cy="41148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Entity 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18689" y="3657600"/>
            <a:ext cx="1567129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8689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Link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4418" y="3657600"/>
            <a:ext cx="1567129" cy="4114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4418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Case Mgmt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0147" y="3657600"/>
            <a:ext cx="1567129" cy="41148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0147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Local LLM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5876" y="3657600"/>
            <a:ext cx="1567129" cy="41148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5876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Evidence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01605" y="3657600"/>
            <a:ext cx="1567129" cy="4114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1605" y="3675887"/>
            <a:ext cx="15671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hai"/>
              </a:rPr>
              <a:t>Regulatory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E3F8"/>
                </a:solidFill>
                <a:latin typeface="Noto Sans Thai"/>
              </a:rPr>
              <a:t>ทุกโมดูลเชื่อมข้อมูลข้ามกัน — บุคคลเดียวกันพบข้ามบัญชี + CDR + Social + CCTV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846320"/>
            <a:ext cx="11094415" cy="502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87375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Infrastructure: On-Premise Server │ Local LLM (Ollama) │ PostgreSQL │ VPN/HTTPS │ ห้าม Cloud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692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ทำไมเริ่มจาก BSIE?
1) คดีการเงินมากที่สุด  2) ข้อมูลมีโครงสร้างชัดเจน  3) เห็นผลเร็ว — 3 วัน→30 นาที  4) พื้นฐานสำหรับโมดูลอื่น  5) ไม่มีเครื่องมือฟรีที่ดีในตลาด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ปัญหาการสืบสวนทางการเงินในปัจจุบัน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432907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53E3E"/>
                </a:solidFill>
                <a:latin typeface="Noto Sans Thai"/>
              </a:rPr>
              <a:t>ปัญหาที่พบ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671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วิเคราะห์ Statement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ด้วยมือ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ใช้เวลา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3-5 วัน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ต่อคดี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ดูได้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ทีละบัญชี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ไม่เห็น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ภาพรวมเครือข่าย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ใช้ Excel ธรรมดา ไม่มีเครื่องมือ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วิเคราะห์เฉพาะทาง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i2 Analyst's Notebook ราคา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500,000+ บาท/license/ปี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ไม่รองรับไทย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ไม่มีมาตรฐาน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รายงาน ปปง.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(STR/CTR)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ไม่มีระบบ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แจ้งเตือนอัตโนมัติ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พลาดได้ง่าย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ข้อมูลกระจาย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หลาย Excel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ไม่เชื่อมโยงข้ามบัญชี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E53E3E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ไม่มีเครื่องมือฟรี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ที่ดีสำหรับตำรวจไทย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960120"/>
            <a:ext cx="5432907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3027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A169"/>
                </a:solidFill>
                <a:latin typeface="Noto Sans Thai"/>
              </a:rPr>
              <a:t>BSIE แก้ได้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27" y="1417320"/>
            <a:ext cx="50671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ประมวลผลอัตโนมัติ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ภายใน 30 นาที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เชื่อมโยงข้ามบัญชี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เห็นเครือข่าย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ทั้งหมด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กราฟเครือข่าย Timeline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แจ้งเตือน 12 รูปแบบ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มี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mini i2 Analyst's Notebook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ในตัว —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ฟรี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สร้างรายงาน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PDF/Excel/STR/CTR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ตามมาตรฐาน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ตรวจจับ 5 รูปแบบฟอกเงิน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FATF อัตโนมัติ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วิเคราะห์ทางสถิติ: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Z-score, IQR, Benford's Law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ฟรี —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ไม่มีค่า license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รองรับ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ทั้งประเทศ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สถาปัตยกรรมระบบ BSIE v4.0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1094415" cy="960120"/>
          </a:xfrm>
          <a:prstGeom prst="round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9E2E"/>
                </a:solidFill>
                <a:latin typeface="Noto Sans Thai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Tailwind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Zustand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Cytoscape.js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Recharts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1463040"/>
            <a:ext cx="1051560" cy="32004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1472184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3B3ED"/>
                </a:solidFill>
                <a:latin typeface="Noto Sans Thai"/>
              </a:rPr>
              <a:t>react-i18next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057400"/>
            <a:ext cx="11094415" cy="960120"/>
          </a:xfrm>
          <a:prstGeom prst="roundRect">
            <a:avLst/>
          </a:prstGeom>
          <a:solidFill>
            <a:srgbClr val="15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BB78"/>
                </a:solidFill>
                <a:latin typeface="Noto Sans Tha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130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Thai"/>
              </a:rPr>
              <a:t>Python 3.12 │ FastAPI │ 21 Routers │ 34 Services │ 120+ Endpoints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ingestion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2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392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78224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0056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0056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alerts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1888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fund_flow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5552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reports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87384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87384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auth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9216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6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exports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71048" y="2560320"/>
            <a:ext cx="822960" cy="30175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71048" y="256946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8BB78"/>
                </a:solidFill>
                <a:latin typeface="Noto Sans Thai"/>
              </a:rPr>
              <a:t>workspace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154680"/>
            <a:ext cx="5432907" cy="960120"/>
          </a:xfrm>
          <a:prstGeom prst="roundRect">
            <a:avLst/>
          </a:prstGeom>
          <a:solidFill>
            <a:srgbClr val="3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200400"/>
            <a:ext cx="50671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9E2E"/>
                </a:solidFill>
                <a:latin typeface="Noto Sans Thai"/>
              </a:rPr>
              <a:t>Processing Core — 30 modules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502152"/>
            <a:ext cx="50671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bank_detector, column_detector, nlp_engine, normalizer,
classifier, link_builder, graph_rules, pdf_loader,
image_loader (OCR), exporter, llm_agent ...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0147" y="3154680"/>
            <a:ext cx="5432907" cy="960120"/>
          </a:xfrm>
          <a:prstGeom prst="roundRect">
            <a:avLst/>
          </a:prstGeom>
          <a:solidFill>
            <a:srgbClr val="2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3027" y="3200400"/>
            <a:ext cx="50671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BCFA"/>
                </a:solidFill>
                <a:latin typeface="Noto Sans Thai"/>
              </a:rPr>
              <a:t>34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3027" y="3502152"/>
            <a:ext cx="506714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alert, anomaly_detection, sna, threat_hunting,
fund_flow, auth, regulatory_export, report,
insights, case_tapestry, job_queue, audit ...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251960"/>
            <a:ext cx="5432907" cy="731520"/>
          </a:xfrm>
          <a:prstGeom prst="roundRect">
            <a:avLst/>
          </a:prstGeom>
          <a:solidFill>
            <a:srgbClr val="1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297680"/>
            <a:ext cx="50671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8BB78"/>
                </a:solidFill>
                <a:latin typeface="Noto Sans Thai"/>
              </a:rPr>
              <a:t>Database: SQLAlchemy 2 + SQLite WAL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599432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20 tables │ Alembic migrations │ Optimized pragmas │ → PostgreSQL (Phase 2)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251960"/>
            <a:ext cx="5432907" cy="731520"/>
          </a:xfrm>
          <a:prstGeom prst="roundRect">
            <a:avLst/>
          </a:prstGeom>
          <a:solidFill>
            <a:srgbClr val="2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93027" y="4297680"/>
            <a:ext cx="50671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8181"/>
                </a:solidFill>
                <a:latin typeface="Noto Sans Thai"/>
              </a:rPr>
              <a:t>AI/ML: Local LLM + NLP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3027" y="4599432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EasyOCR (Thai+EN) │ NLP Engine (ชื่อ/เบอร์/บัตร ปชช./PromptPay) │ Ollama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ฐานข้อมูล — 20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3327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FileRecord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ไฟล์อัพโหลด +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96012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121" y="103327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ParserRun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121" y="134416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ประวัติการประมวลผล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96012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9875" y="103327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Noto Sans Thai"/>
              </a:rPr>
              <a:t>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9875" y="134416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บัญชีทุกแห่ง (normalized)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96012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0629" y="103327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Noto Sans Thai"/>
              </a:rPr>
              <a:t>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0629" y="134416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ธุรกรรม 30+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2024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9339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StatementBatch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0428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ชุดรายการเดินบัญชี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9393" y="192024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9121" y="199339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RawImportRow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9121" y="230428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ข้อมูลดิบ forensic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192024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9875" y="199339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5AD5"/>
                </a:solidFill>
                <a:latin typeface="Noto Sans Thai"/>
              </a:rPr>
              <a:t>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9875" y="230428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บุคคล/นิติบุคคล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0901" y="192024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0629" y="199339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5AD5"/>
                </a:solidFill>
                <a:latin typeface="Noto Sans Thai"/>
              </a:rPr>
              <a:t>AccountEntityLink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629" y="230428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เชื่อม Account↔Entity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8036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95351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Noto Sans Thai"/>
              </a:rPr>
              <a:t>TransactionMatch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26440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จับคู่ข้ามบัญชี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9393" y="288036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9121" y="295351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Noto Sans Thai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9121" y="326440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แจ้งเตือน + severity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0147" y="288036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9875" y="295351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Noto Sans Thai"/>
              </a:rPr>
              <a:t>DuplicateGroup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9875" y="326440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กลุ่มข้อมูลซ้ำ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0901" y="288036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0629" y="295351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9E2E"/>
                </a:solidFill>
                <a:latin typeface="Noto Sans Thai"/>
              </a:rPr>
              <a:t>ReviewDecision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0629" y="326440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การตัดสินใจ analyst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84048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91363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9E2E"/>
                </a:solidFill>
                <a:latin typeface="Noto Sans Thai"/>
              </a:rPr>
              <a:t>AuditLog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22452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Audit Trail ทุก 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79393" y="384048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9121" y="391363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  <a:latin typeface="Noto Sans Thai"/>
              </a:rPr>
              <a:t>ExportJob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89121" y="422452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งานส่งออกรายงาน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7" y="384048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9875" y="391363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C8181"/>
                </a:solidFill>
                <a:latin typeface="Noto Sans Thai"/>
              </a:rPr>
              <a:t>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9875" y="422452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ผู้ใช้ JWT + RBAC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40901" y="384048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0629" y="391363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Noto Sans Thai"/>
              </a:rPr>
              <a:t>AdminSetting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0629" y="422452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ตั้งค่า + Workspace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80060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B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87375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BCFA"/>
                </a:solidFill>
                <a:latin typeface="Noto Sans Thai"/>
              </a:rPr>
              <a:t>GraphAnnotation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18464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บันทึกบน node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79393" y="480060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89121" y="487375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8BB78"/>
                </a:solidFill>
                <a:latin typeface="Noto Sans Thai"/>
              </a:rPr>
              <a:t>CaseTag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9121" y="518464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แท็กคดี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0147" y="480060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19875" y="487375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8BB78"/>
                </a:solidFill>
                <a:latin typeface="Noto Sans Thai"/>
              </a:rPr>
              <a:t>CaseTagLink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19875" y="518464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เชื่อม tag↔วัตถุ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0901" y="4800600"/>
            <a:ext cx="2602153" cy="7772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50629" y="4873752"/>
            <a:ext cx="23826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MappingProfile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50629" y="5184648"/>
            <a:ext cx="23826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Thai"/>
              </a:rPr>
              <a:t>โปรไฟล์ mapping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25+ Indexes │ Unique constraints │ Foreign keys │ JSON columns │ Alembic migrations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Processing Pipeline — 14 ขั้นตอน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A169"/>
                </a:solidFill>
                <a:latin typeface="Noto Sans Tha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Load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Excel/PDF/Image/OFX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6213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6213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A169"/>
                </a:solidFill>
                <a:latin typeface="Noto Sans Tha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6213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Detect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9365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8 ธนาคาร auto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3787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3787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Noto Sans Tha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3787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Detect Cols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6939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Fuzzy 3-tier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1360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1360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B6CB0"/>
                </a:solidFill>
                <a:latin typeface="Noto Sans Tha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1360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Load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4512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Profile ที่จำไว้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8934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8934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3B3ED"/>
                </a:solidFill>
                <a:latin typeface="Noto Sans Tha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8934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Apply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2086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แปลงคอลัมน์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6507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6507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3B3ED"/>
                </a:solidFill>
                <a:latin typeface="Noto Sans Tha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6507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9659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วันที่/เงิน/ทิศทาง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54081" y="96012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54081" y="109728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D6B20"/>
                </a:solidFill>
                <a:latin typeface="Noto Sans Tha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4081" y="160020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Parse Acct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7233" y="201168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แยกเลข normalize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D6B20"/>
                </a:solidFill>
                <a:latin typeface="Noto Sans Tha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Extract Desc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แยกรายละเอียด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6213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66213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05AD5"/>
                </a:solidFill>
                <a:latin typeface="Noto Sans Tha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6213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NLP Enrich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9365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ชื่อ/เบอร์/ID/PP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83787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3787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05AD5"/>
                </a:solidFill>
                <a:latin typeface="Noto Sans Tha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3787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Classify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6939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IN/OUT/TRANSFER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01360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1360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69E2E"/>
                </a:solidFill>
                <a:latin typeface="Noto Sans Tha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1360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Build Links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4512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from→to accounts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18934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18934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69E2E"/>
                </a:solidFill>
                <a:latin typeface="Noto Sans Thai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8934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Overrides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2086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แก้ไขจาก analyst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36507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36507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C8181"/>
                </a:solidFill>
                <a:latin typeface="Noto Sans Thai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6507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Build 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9659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สร้าง Entity list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54081" y="3566160"/>
            <a:ext cx="1388973" cy="22860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54081" y="3703320"/>
            <a:ext cx="1388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C8181"/>
                </a:solidFill>
                <a:latin typeface="Noto Sans Thai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54081" y="4206240"/>
            <a:ext cx="138897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Export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27233" y="4617720"/>
            <a:ext cx="12426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E3F8"/>
                </a:solidFill>
                <a:latin typeface="Noto Sans Thai"/>
              </a:rPr>
              <a:t>Account 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การนำเข้าข้อมูล — ครบทุกรูปแบบ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545738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65D"/>
                </a:solidFill>
                <a:latin typeface="Noto Sans Thai"/>
              </a:rPr>
              <a:t>8 ธนาคารไทย Auto-detect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7997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SCB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ไทยพาณิชย์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KBANK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กสิกรไทย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BBL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กรุงเทพ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KTB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กรุงไทย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BAY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กรุงศรี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TTB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ทหารไทยธนชาต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GSB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ออมสิน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BAAC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ธ.ก.ส.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960120"/>
            <a:ext cx="3545738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65D"/>
                </a:solidFill>
                <a:latin typeface="Noto Sans Thai"/>
              </a:rPr>
              <a:t>รูปแบบไฟล์ +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858" y="1463040"/>
            <a:ext cx="317997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Excel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(.xlsx / .xls) — ทุกธนาคาร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PDF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ข้อความ — pdfplumber extraction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PDF สแกน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EasyOCR + table reconstruction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รูปภาพ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(JPG/PNG/BMP) — EasyOCR Thai+EN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OFX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ธนาคารออนไลน์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SHA-256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ตรวจจับไฟล์ซ้ำอัตโนมัติ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960120"/>
            <a:ext cx="3545738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196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65D"/>
                </a:solidFill>
                <a:latin typeface="Noto Sans Thai"/>
              </a:rPr>
              <a:t>Smart Column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196" y="1463040"/>
            <a:ext cx="317997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3-tier Fuzzy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exact → alias → fuzzy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Self-learning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จำ profile ที่เคย mapping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Body keywords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ตรวจจากเนื้อหาไฟล์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Re-process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mapping ผิด? ทำใหม่ได้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NLP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ชื่อไทย, เบอร์, บัตร ปชช., PromptPay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กราฟเครือข่าย — mini i2 Analyst's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EE3F8"/>
                </a:solidFill>
                <a:latin typeface="Noto Sans Thai"/>
              </a:rPr>
              <a:t>Link Chart 815 บรรทัด — Interactive Multi-hop Expand ไม่จำกัดความลึก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32907" cy="46634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9E2E"/>
                </a:solidFill>
                <a:latin typeface="Noto Sans Thai"/>
              </a:rPr>
              <a:t>Multi-hop Link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6714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กดขยายเครือข่าย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ทีละชั้น ไม่จำกัดความลึก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5 Layout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: Circle, Spread, Compact, Hierarchy, Peacock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Conditional Formatting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ขนาด node ตามยอดเงิน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สี border ตาม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ระดับความเสี่ยง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จาก alert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Edge labels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แสดง/ซ่อนยอดเงินบน edge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Pin / Hide / Multi-select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จัดระเบียบกราฟ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Focus History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ดูประวัติการสำรวจ node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Export PNG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สำหรับใช้ในรายงาน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188720"/>
            <a:ext cx="5432907" cy="46634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3027" y="12984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9E2E"/>
                </a:solidFill>
                <a:latin typeface="Noto Sans Thai"/>
              </a:rPr>
              <a:t>SNA + Path 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3027" y="1691640"/>
            <a:ext cx="506714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Degree Centrality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บัญชีเชื่อมต่อมากสุด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Betweenness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บัญชี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ตัวกลาง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(broker)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Closeness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เข้าถึงทุกจุดเร็วสุด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BFS Path Finder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ตามเงิน A→B→C→D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4 ทอด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Graph Annotations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จดบันทึกบน node ได้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Tags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: ผู้ต้องสงสัย, พยาน, เหยื่อ, ตรวจสอบเพิ่ม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Workspace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บันทึก/โหลด chart state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69E2E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Entity Profile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หน้ารวมข้อมูลบุคคล/บัญชี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การแสดงผล — Timeline, Heatmap,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54573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Noto Sans Thai"/>
              </a:rPr>
              <a:t>Timeline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Recharts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Bar + Dot mode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Granularity: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วัน / สัปดาห์ / เดือน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ดูรูปแบบธุรกรรมตามเวลา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ตรวจจับช่วงเวลาผิดปกติ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960120"/>
            <a:ext cx="354573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05AD5"/>
                </a:solidFill>
                <a:latin typeface="Noto Sans Thai"/>
              </a:rPr>
              <a:t>Time Wheel (Heatmap)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858" y="146304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Custom SVG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Hour × Day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24 ชม. × 7 วัน =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168 ช่อง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สีตามความถี่ธุรกรรม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ตรวจจับเวลาผิดปกติ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(ตี 2-5)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960120"/>
            <a:ext cx="354573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196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A169"/>
                </a:solidFill>
                <a:latin typeface="Noto Sans Tha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196" y="146304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สรุปภาพรวม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สถิติ, เงินเข้า/ออก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Recent Activity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ธุรกรรมล่าสุด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Top Accounts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บัญชียอดสูงสุด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38A169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1A202C"/>
                </a:solidFill>
                <a:latin typeface="Noto Sans Thai"/>
              </a:rPr>
              <a:t>Code-split</a:t>
            </a:r>
            <a:r>
              <a:rPr sz="1300" b="0">
                <a:solidFill>
                  <a:srgbClr val="1A202C"/>
                </a:solidFill>
                <a:latin typeface="Noto Sans Thai"/>
              </a:rPr>
              <a:t> — React.lazy + Suspense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ระบบแจ้งเตือนอัตโนมัติ — 12 รูปแบบ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545738" cy="5120640"/>
          </a:xfrm>
          <a:prstGeom prst="roundRect">
            <a:avLst/>
          </a:prstGeom>
          <a:solidFill>
            <a:srgbClr val="9C4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CC94B"/>
                </a:solidFill>
                <a:latin typeface="Noto Sans Thai"/>
              </a:rPr>
              <a:t>7 กฎกราฟเครือข่าย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799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Repeated Transfers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คู่เดิม ≥3 ครั้ง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Fan-in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เงินเข้าจาก ≥3 แหล่ง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Fan-out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เงินออกไป ≥3 เป้า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Circular Paths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เงินวน A⇄B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Pass-through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รับแล้วโอนต่อทันที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High-degree Hub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เชื่อม ≥6 บัญชี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Repeated Counterparty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คนเดิมหลายวัน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960120"/>
            <a:ext cx="3545738" cy="5120640"/>
          </a:xfrm>
          <a:prstGeom prst="roundRect">
            <a:avLst/>
          </a:prstGeom>
          <a:solidFill>
            <a:srgbClr val="9C4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CC94B"/>
                </a:solidFill>
                <a:latin typeface="Noto Sans Thai"/>
              </a:rPr>
              <a:t>5 รูปแบบฟอกเงิน FATF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858" y="1463040"/>
            <a:ext cx="31799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Smurfing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แบ่งรายการย่อย หลีกเลี่ยงเกณฑ์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Layering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สร้างชั้นธุรกรรมซ้อนทับ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Rapid Movement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เข้า-ออกภายใน 24 ชม.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Dormant Activation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บัญชีนิ่ง→ใช้ทันที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Round-tripping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เงินวนกลับแหล่งเดิม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960120"/>
            <a:ext cx="3545738" cy="5120640"/>
          </a:xfrm>
          <a:prstGeom prst="roundRect">
            <a:avLst/>
          </a:prstGeom>
          <a:solidFill>
            <a:srgbClr val="9C4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196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CC94B"/>
                </a:solidFill>
                <a:latin typeface="Noto Sans Thai"/>
              </a:rPr>
              <a:t>4 วิธีทางสถิติ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196" y="1463040"/>
            <a:ext cx="31799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Z-score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เบี่ยงเบน &gt;Nσ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IQR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Q1-1.5×IQR ถึง Q3+1.5×IQR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Benford's Law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หลักแรกผิดปกติ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ECC94B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FFFFFF"/>
                </a:solidFill>
                <a:latin typeface="Noto Sans Thai"/>
              </a:rPr>
              <a:t>Moving Average</a:t>
            </a:r>
            <a:r>
              <a:rPr sz="1200" b="0">
                <a:solidFill>
                  <a:srgbClr val="FFFFFF"/>
                </a:solidFill>
                <a:latin typeface="Noto Sans Thai"/>
              </a:rPr>
              <a:t> — เบี่ยงจากค่าเฉลี่ย 30 รายการ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การวิเคราะห์ข้ามบัญชี + Investigation Desk + รายงาน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432907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Noto Sans Thai"/>
              </a:rPr>
              <a:t>Cross-Account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6714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Fund Flow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เงินเข้า/ออกของบัญชีใดก็ได้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Pairwise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ธุรกรรมทั้งหมดระหว่าง 2 บัญชี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BFS Path Finder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A→B→C→D สูงสุด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4 ทอด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Bulk Cross-Match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จับคู่ข้ามทุกบัญชีพร้อมกัน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Multi-period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— เปรียบเทียบ 2 ช่วงเวลา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960120"/>
            <a:ext cx="5432907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3027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05AD5"/>
                </a:solidFill>
                <a:latin typeface="Noto Sans Thai"/>
              </a:rPr>
              <a:t>Investigation Desk — 13 แท็บ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27" y="1417320"/>
            <a:ext cx="506714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805AD5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Database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Files │ Parser Runs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Accounts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Search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805AD5"/>
                </a:solidFill>
                <a:latin typeface="Noto Sans Thai"/>
              </a:rPr>
              <a:t>●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Alerts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Cross-Account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Link Chart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Timeline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805AD5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Duplicates │ Matches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Audit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109441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9E2E"/>
                </a:solidFill>
                <a:latin typeface="Noto Sans Thai"/>
              </a:rPr>
              <a:t>รายงานพร้อมใช้งาน — 6 รูปแบบ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Excel (.xlsx)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14+ ชีท, TH Sarabun New, สีตามประเภท, สูตร =SUM/=COUNTA, auto-filter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647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ปก + สถิติ + คู่สัญญา + alerts + ธุรกรรม + ช่องลงนาม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i2 Chart (.anx)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เปิดใน Analyst's Notebook ได้ทันที — XML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i2 Import (.csv+.ximp)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647" y="4709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CSV data 29 คอลัมน์ + XML spec สำหรับ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STR / CTR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รูปแบบรายงาน ปปง. พร้อมส่ง —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Noto Sans Thai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647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Thai"/>
              </a:rPr>
              <a:t>transactions, entities, links, reconciliation, graph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ความปลอดภัย, Chain of Custody, ภาษาไทย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545738" cy="3931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3B3ED"/>
                </a:solidFill>
                <a:latin typeface="Noto Sans Thai"/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63B3ED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JWT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tokens + 3 ระดับ: Admin/Analyst/Viewer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63B3ED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PBKDF2-SHA256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100,000 iterations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63B3ED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Rate Limiting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10 req/min login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63B3ED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Configurable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BSIE_AUTH_REQUIRED env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960120"/>
            <a:ext cx="3545738" cy="3931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C8181"/>
                </a:solidFill>
                <a:latin typeface="Noto Sans Thai"/>
              </a:rPr>
              <a:t>Security Headers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858" y="141732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C8181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X-Frame-Options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: DENY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C8181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X-Content-Type-Options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: nosniff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C8181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Referrer-Policy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: no-referrer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C8181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Upload Allowlist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.xlsx/.pdf/.csv/.png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C8181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Max Body Size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: 50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960120"/>
            <a:ext cx="3545738" cy="39319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196" y="1069848"/>
            <a:ext cx="31799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9E2E"/>
                </a:solidFill>
                <a:latin typeface="Noto Sans Thai"/>
              </a:rPr>
              <a:t>Chain of Custody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196" y="1417320"/>
            <a:ext cx="317997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D69E2E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Audit Trail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ใคร/ทำอะไร/เมื่อไหร่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D69E2E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Chain of Custody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ประวัติครบถ้วน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D69E2E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/api/audit-trail/{type}/{id}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D69E2E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SHA-256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file integrity verification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D69E2E"/>
                </a:solidFill>
                <a:latin typeface="Noto Sans Thai"/>
              </a:rPr>
              <a:t>● </a:t>
            </a:r>
            <a:r>
              <a:rPr sz="1100" b="1">
                <a:solidFill>
                  <a:srgbClr val="FFFFFF"/>
                </a:solidFill>
                <a:latin typeface="Noto Sans Thai"/>
              </a:rPr>
              <a:t>File Metadata</a:t>
            </a:r>
            <a:r>
              <a:rPr sz="1100" b="0">
                <a:solidFill>
                  <a:srgbClr val="FFFFFF"/>
                </a:solidFill>
                <a:latin typeface="Noto Sans Thai"/>
              </a:rPr>
              <a:t> — forensic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94415" cy="73152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Thai"/>
              </a:rPr>
              <a:t>ภาษาไทยเต็มระบบ: UI สลับ ไทย/อังกฤษ │ ~500 คีย์แปลภาษา │ TH Sarabun New ทุกรายงาน
NLP ชื่อไทย/เบอร์/บัตร ปชช./PromptPay │ 244 ชุดทดสอบ (212 backend + 32 frontend)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ทำไมต้อง Local LLM — ห้ามใช้ Cloud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432907" cy="4846320"/>
          </a:xfrm>
          <a:prstGeom prst="roundRect">
            <a:avLst/>
          </a:prstGeom>
          <a:solidFill>
            <a:srgbClr val="74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C8181"/>
                </a:solidFill>
                <a:latin typeface="Noto Sans Thai"/>
              </a:rPr>
              <a:t>เหตุผลความจำเป็น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671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ความลับทางราชการ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ระดับ 'ลับ' / 'ลับมาก'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พ.ร.บ. คุ้มครองข้อมูลส่วนบุคคล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(PDPA)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Training Data Risk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Cloud LLM อาจนำข้อมูลไปเรียนรู้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Chain of Custody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หลักฐานต้องไม่ผ่านระบบภายนอก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ระเบียบ สตช.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ข้อมูลอยู่ในโครงข่ายภายใน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ป้องกันรั่วไหล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เลขบัญชี, ชื่อผู้ต้องสงสัย, เส้นทางเงิน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960120"/>
            <a:ext cx="5432907" cy="4846320"/>
          </a:xfrm>
          <a:prstGeom prst="roundRect">
            <a:avLst/>
          </a:prstGeom>
          <a:solidFill>
            <a:srgbClr val="74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3027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C8181"/>
                </a:solidFill>
                <a:latin typeface="Noto Sans Thai"/>
              </a:rPr>
              <a:t>Local LLM ทำอะไรได้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27" y="1417320"/>
            <a:ext cx="5067147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สรุปคดีอัตโนมัติ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พบเงินเข้า 15 บัญชี 3.2 ล.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ตอบคำถาม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บัญชีนี้มีธุรกรรมเกิน 1 แสน?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จำแนกธุรกรรม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ช่วย classify ที่ไม่มั่นใจ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ตรวจจับรูปแบบ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— structuring, smurfing?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FC8181"/>
                </a:solidFill>
                <a:latin typeface="Noto Sans Thai"/>
              </a:rPr>
              <a:t>● </a:t>
            </a:r>
            <a:r>
              <a:rPr sz="1300" b="1">
                <a:solidFill>
                  <a:srgbClr val="FFFFFF"/>
                </a:solidFill>
                <a:latin typeface="Noto Sans Thai"/>
              </a:rPr>
              <a:t>ร่าง STR/CTR</a:t>
            </a:r>
            <a:r>
              <a:rPr sz="1300" b="0">
                <a:solidFill>
                  <a:srgbClr val="FFFFFF"/>
                </a:solidFill>
                <a:latin typeface="Noto Sans Thai"/>
              </a:rPr>
              <a:t> narrative อัตโนมัติ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3027" y="4709159"/>
            <a:ext cx="506714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EBDBD"/>
                </a:solidFill>
                <a:latin typeface="Noto Sans Thai"/>
              </a:rPr>
              <a:t>แนะนำ: Ollama + Llama 3.1 70B / Typhoon
GPU: NVIDIA RTX 4090 (24GB) หรือ A6000 (48GB)
ติดตั้งง่าย — API เหมือน OpenAI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โครงสร้างพื้นฐาน — Phase 1 ถึง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432907" cy="23774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8BB78"/>
                </a:solidFill>
                <a:latin typeface="Noto Sans Thai"/>
              </a:rPr>
              <a:t>Phase 1: Standalone (ฟรี)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67147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Thai"/>
              </a:rPr>
              <a:t>PC/Mac พนักงานสอบสวน
  └── BSIE (localhost:8757)
        ├── FastAPI backend
        ├── React frontend
        └── SQLite database
ไม่ต้องใช้ server ใดๆ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960120"/>
            <a:ext cx="5432907" cy="23774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3027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3B3ED"/>
                </a:solidFill>
                <a:latin typeface="Noto Sans Thai"/>
              </a:rPr>
              <a:t>Phase 2: สถานีตำรวจ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27" y="1417320"/>
            <a:ext cx="5067147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Thai"/>
              </a:rPr>
              <a:t>Server จังหวัด
  ├── BSIE + Nginx (HTTPS)
  ├── PostgreSQL Database
  ├── Local LLM (Ollama+GPU)
  └── File Storage
PC สอบสวน 1-30 → Browser → 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11094415" cy="274320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9E2E"/>
                </a:solidFill>
                <a:latin typeface="Noto Sans Thai"/>
              </a:rPr>
              <a:t>Phase 3-4: ระดับจังหวัด / ภาค / ประเทศ (On-Premise)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25002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Thai"/>
              </a:rPr>
              <a:t>Data Center จังหวัด / ภาค
  ├── Load Balancer (Nginx)
  ├── BSIE Backend ×2-3
  ├── PostgreSQL (primary+replica)
  ├── Redis (cache + session)
  ├── NAS/SAN (evidence)
  ├── Monitoring (Prometheus+Grafana)
  └── Backup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069080"/>
            <a:ext cx="525002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Thai"/>
              </a:rPr>
              <a:t>Local LLM Cluster
  ├── GPU Server ×1-2 per ภาค
  ├── NVIDIA A6000 ×2 per server
  └── Llama 3.1 70B + Typhoon
เชื่อม VPN/HTTPS:
  สถานี อ.เมือง → VPN
  สถานี อ.เกาะสมุย → VPN
  บก.จว. → VPN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Roadmap การพัฒนา SPNI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31720"/>
            <a:ext cx="11094415" cy="381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25400" cy="274320"/>
          </a:xfrm>
          <a:prstGeom prst="rect">
            <a:avLst/>
          </a:prstGeom>
          <a:solidFill>
            <a:srgbClr val="718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920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AEC0"/>
                </a:solidFill>
                <a:latin typeface="Noto Sans Thai"/>
              </a:rPr>
              <a:t>พ.ศ. 2569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94560"/>
            <a:ext cx="25400" cy="274320"/>
          </a:xfrm>
          <a:prstGeom prst="rect">
            <a:avLst/>
          </a:prstGeom>
          <a:solidFill>
            <a:srgbClr val="718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920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AEC0"/>
                </a:solidFill>
                <a:latin typeface="Noto Sans Thai"/>
              </a:rPr>
              <a:t>2570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194560"/>
            <a:ext cx="25400" cy="274320"/>
          </a:xfrm>
          <a:prstGeom prst="rect">
            <a:avLst/>
          </a:prstGeom>
          <a:solidFill>
            <a:srgbClr val="718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AEC0"/>
                </a:solidFill>
                <a:latin typeface="Noto Sans Thai"/>
              </a:rPr>
              <a:t>2571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2194560"/>
            <a:ext cx="25400" cy="274320"/>
          </a:xfrm>
          <a:prstGeom prst="rect">
            <a:avLst/>
          </a:prstGeom>
          <a:solidFill>
            <a:srgbClr val="718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1920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AEC0"/>
                </a:solidFill>
                <a:latin typeface="Noto Sans Thai"/>
              </a:rPr>
              <a:t>2572+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75688"/>
            <a:ext cx="2103120" cy="5029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134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Thai"/>
              </a:rPr>
              <a:t>Pilot</a:t>
            </a:r>
          </a:p>
        </p:txBody>
      </p:sp>
      <p:sp>
        <p:nvSpPr>
          <p:cNvPr id="16" name="Diamond 15"/>
          <p:cNvSpPr/>
          <p:nvPr/>
        </p:nvSpPr>
        <p:spPr>
          <a:xfrm>
            <a:off x="480060" y="2263140"/>
            <a:ext cx="137160" cy="137160"/>
          </a:xfrm>
          <a:prstGeom prst="diamond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14600"/>
            <a:ext cx="1463040" cy="320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A169"/>
                </a:solidFill>
                <a:latin typeface="Noto Sans Thai"/>
              </a:rPr>
              <a:t>ฟรี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EC0"/>
                </a:solidFill>
                <a:latin typeface="Noto Sans Thai"/>
              </a:rPr>
              <a:t>เดือน 1-3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225296"/>
            <a:ext cx="2103120" cy="740664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29844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BSIE v4.0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4996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ทดลอง 5-10 คดีจริง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7007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เก็บ 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2075688"/>
            <a:ext cx="25603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75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3134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Thai"/>
              </a:rPr>
              <a:t>จังหวัดนำร่อง</a:t>
            </a:r>
          </a:p>
        </p:txBody>
      </p:sp>
      <p:sp>
        <p:nvSpPr>
          <p:cNvPr id="27" name="Diamond 26"/>
          <p:cNvSpPr/>
          <p:nvPr/>
        </p:nvSpPr>
        <p:spPr>
          <a:xfrm>
            <a:off x="2766060" y="2263140"/>
            <a:ext cx="137160" cy="137160"/>
          </a:xfrm>
          <a:prstGeom prst="diamond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2514600"/>
            <a:ext cx="1463040" cy="320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Noto Sans Thai"/>
              </a:rPr>
              <a:t>~8 ล้าน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8803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EC0"/>
                </a:solidFill>
                <a:latin typeface="Noto Sans Thai"/>
              </a:rPr>
              <a:t>เดือน 4-9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1024128"/>
            <a:ext cx="2560320" cy="94183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1097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Server 5 จังหวัด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129844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PostgreSQL + Multi-user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149961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Local LLM +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170078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อบรม 5 จังหวัด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2075688"/>
            <a:ext cx="347472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20756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3134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Thai"/>
              </a:rPr>
              <a:t>SPNI Foundation</a:t>
            </a:r>
          </a:p>
        </p:txBody>
      </p:sp>
      <p:sp>
        <p:nvSpPr>
          <p:cNvPr id="39" name="Diamond 38"/>
          <p:cNvSpPr/>
          <p:nvPr/>
        </p:nvSpPr>
        <p:spPr>
          <a:xfrm>
            <a:off x="5509260" y="2263140"/>
            <a:ext cx="137160" cy="137160"/>
          </a:xfrm>
          <a:prstGeom prst="diamond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0" y="2514600"/>
            <a:ext cx="1463040" cy="320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D6B20"/>
                </a:solidFill>
                <a:latin typeface="Noto Sans Thai"/>
              </a:rPr>
              <a:t>~40 ล้าน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2880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EC0"/>
                </a:solidFill>
                <a:latin typeface="Noto Sans Thai"/>
              </a:rPr>
              <a:t>เดือน 10-21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0" y="1024128"/>
            <a:ext cx="3474720" cy="94183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1097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CDR Module (โมดูล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12984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Shared Intelligence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14996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Mobile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170078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ขยาย 20 จังหวัด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2075688"/>
            <a:ext cx="2404872" cy="5029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075688"/>
            <a:ext cx="2404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Phase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313432"/>
            <a:ext cx="2404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Thai"/>
              </a:rPr>
              <a:t>ระดับประเทศ</a:t>
            </a:r>
          </a:p>
        </p:txBody>
      </p:sp>
      <p:sp>
        <p:nvSpPr>
          <p:cNvPr id="51" name="Diamond 50"/>
          <p:cNvSpPr/>
          <p:nvPr/>
        </p:nvSpPr>
        <p:spPr>
          <a:xfrm>
            <a:off x="9166860" y="2263140"/>
            <a:ext cx="137160" cy="137160"/>
          </a:xfrm>
          <a:prstGeom prst="diamon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06356" y="2514600"/>
            <a:ext cx="1463040" cy="32004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06356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53E3E"/>
                </a:solidFill>
                <a:latin typeface="Noto Sans Thai"/>
              </a:rPr>
              <a:t>~120 ล้าน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2880360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0AEC0"/>
                </a:solidFill>
                <a:latin typeface="Noto Sans Thai"/>
              </a:rPr>
              <a:t>ปีที่ 3+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1024128"/>
            <a:ext cx="2404872" cy="941832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1097280"/>
            <a:ext cx="2221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Social + CCTV Module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1298448"/>
            <a:ext cx="2221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77 จว. ทั้งประเทศ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1499616"/>
            <a:ext cx="2221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Data Center ×10 ภาค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1700784"/>
            <a:ext cx="2221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Noto Sans Thai"/>
              </a:rPr>
              <a:t>● เชื่อม ปปง./DSI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669280"/>
            <a:ext cx="11094415" cy="502920"/>
          </a:xfrm>
          <a:prstGeom prst="roundRect">
            <a:avLst/>
          </a:prstGeom>
          <a:solidFill>
            <a:srgbClr val="2D3748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6967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งบประมาณรวม 3 ปี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5696712"/>
            <a:ext cx="6979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D69E2E"/>
                </a:solidFill>
                <a:latin typeface="Noto Sans Thai"/>
              </a:rPr>
              <a:t>~170 ล้านบาท │ ฟรี → 8 ล้าน → 40 ล้าน → 120 ล้าน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Phase 1 เริ่มได้ทันที (ฟรี)  →  Phase 2 ของบหลัง pilot สำเร็จ  →  Phase 3-4 ขยายตามผลลัพธ์จริง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202C"/>
                </a:solidFill>
                <a:latin typeface="Noto Sans Thai"/>
              </a:rPr>
              <a:t>งบประมาณระดับประเทศ — SPNI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8625535" cy="576072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0525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Noto Sans Thai"/>
              </a:rPr>
              <a:t>Phase 1: Pilot (3 เดือน)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ใช้เครื่อง PC ที่มีอยู่ + ซอฟต์แวร์ BSIE v4.0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ฟรี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941832"/>
            <a:ext cx="2103120" cy="36576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615" y="9418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ฟรี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17904"/>
            <a:ext cx="8625535" cy="16002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Noto Sans Thai"/>
              </a:rPr>
              <a:t>Phase 2: จังหวัดนำร่อง 5 จังหวัด (6 เดือน)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922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Application Server ×5 (CPU 8-core, 32GB, 1TB SSD)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92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1,500,000 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482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GPU Server สำหรับ Local LLM ×5 (RTX 4090/A6000)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0482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5,000,000 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042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Network / UPS / อุปกรณ์ ×5 จังหวัด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04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500,000 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PostgreSQL Migration + พัฒนาเพิ่มเติม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500,000 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8163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อบรมพนักงานสอบสวน 5 จังหวัด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816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300,000 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5615" y="1591056"/>
            <a:ext cx="2103120" cy="3657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5615" y="15910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~8 ล้าน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91256"/>
            <a:ext cx="8625535" cy="1344168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278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Noto Sans Thai"/>
              </a:rPr>
              <a:t>Phase 3: SPNI Foundation + ขยาย 20 จังหวัด (12 เดือน)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655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CDR Analysis Module (โมดูล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46557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8,000,000 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216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Server + GPU ×20 จังหวัด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21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20,000,000 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Shared Intelligence Layer + Mobile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977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7,000,000 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336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ทีมพัฒนา 5-8 คน × 12 เดือน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336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5,000,000 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5615" y="3264408"/>
            <a:ext cx="2103120" cy="36576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5615" y="3264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~40 ล้าน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608576"/>
            <a:ext cx="8625535" cy="1344168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451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Noto Sans Thai"/>
              </a:rPr>
              <a:t>Phase 4: ทั้งประเทศ 77 จังหวัด + 10 ภาค (ปีที่ 2-3)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828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Social Media + CCTV Module (โมดูล 3-4)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30,000,000 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38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Data Center ระดับภาค ×10 + GPU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1389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40,000,000 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94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Deploy 77 จังหวัด — server +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30,000,000 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509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  <a:latin typeface="Noto Sans Thai"/>
              </a:rPr>
              <a:t>ทีมพัฒนา + DevOps 15 คน + อบรมทั่วประเทศ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6509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Noto Sans Thai"/>
              </a:rPr>
              <a:t>20,000,000 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65615" y="4681728"/>
            <a:ext cx="210312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5615" y="46817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~120 ล้าน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6071616"/>
            <a:ext cx="11094415" cy="502920"/>
          </a:xfrm>
          <a:prstGeom prst="round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0990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Thai"/>
              </a:rPr>
              <a:t>รวมทั้งโครงการ 3 ปี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6099048"/>
            <a:ext cx="606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D69E2E"/>
                </a:solidFill>
                <a:latin typeface="Noto Sans Thai"/>
              </a:rPr>
              <a:t>~170 ล้านบาท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จุดเด่นของงบประมาณ SPNI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1091153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332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A169"/>
                </a:solidFill>
                <a:latin typeface="Noto Sans Thai"/>
              </a:rPr>
              <a:t>ไม่มีค่า license รายปี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Noto Sans Thai"/>
              </a:rPr>
              <a:t>ซอฟต์แวร์ทั้งหมดพัฒนาเอง + Open Source — จ่ายครั้งเดียว ใช้ตลอด
เปรียบเทียบ: i2 = 500,000 ฿/คน/ปี × 1,484 สถานี = 742 ล้าน/ปี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09728" cy="10972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91153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Noto Sans Thai"/>
              </a:rPr>
              <a:t>ขยายได้ไม่จำกัด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Noto Sans Thai"/>
              </a:rPr>
              <a:t>เพิ่มสถานีใหม่ = แค่เพิ่ม server ไม่ต้องจ่าย license เพิ่ม
รองรับ 1,484 สถานี ~15,000-20,000 พนักงานสอบสวนทั่วประเทศ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09728" cy="10972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091153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D6B20"/>
                </a:solidFill>
                <a:latin typeface="Noto Sans Thai"/>
              </a:rPr>
              <a:t>Customizable เต็มที่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935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Noto Sans Thai"/>
              </a:rPr>
              <a:t>มีโค้ดทั้งหมด — แก้ไข ปรับแต่ง เพิ่มฟีเจอร์ ได้เอง
ไม่ต้องพึ่งบริษัทต่างชาติ — เป็นสมบัติของ สตช.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109728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1091153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53E3E"/>
                </a:solidFill>
                <a:latin typeface="Noto Sans Thai"/>
              </a:rPr>
              <a:t>Data Sovereignty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39512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Noto Sans Thai"/>
              </a:rPr>
              <a:t>ข้อมูลทั้งหมดอยู่ใน On-Premise Server ของ สตช.
ไม่มีข้อมูลคดีออกนอกประเทศ — Local LLM เท่านั้น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เปรียบเทียบกับซอฟต์แวร์ทางการค้า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92608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978408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Thai"/>
              </a:rPr>
              <a:t>คุณสมบัติ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960120"/>
            <a:ext cx="27432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97840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BSIE (SPNI)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60120"/>
            <a:ext cx="27432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97840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i2 Analyst's 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5984" y="960120"/>
            <a:ext cx="27432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97840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Cellebrite Fin.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07592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32588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ราคา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30759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ฟรี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0759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32588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500,000 ฿/คน/ปี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30759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32588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300,000 ฿/คน/ปี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55064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167335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1,484 สถานี/ปี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165506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67335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ค่า server เท่านั้น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65506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67335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742+ ล้าน/ปี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5984" y="165506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167335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445+ ล้าน/ปี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002536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202082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ภาษาไทย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200253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02082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เต็มระบบ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200253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02082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200253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9136" y="202082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350008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2368296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ธนาคารไทย 8 แห่ง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93008" y="2350008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236829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Auto-detect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2350008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236829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 setup เอง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15984" y="2350008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9136" y="236829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 บางส่วน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697480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2715768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กราฟเครือข่าย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93008" y="2697480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0" y="271576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mini i2 (5 layout)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54496" y="2697480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271576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✓ เต็มรูปแบบ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15984" y="2697480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89136" y="271576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044952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" y="306324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PDF/OCR ภาษาไทย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93008" y="3044952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306324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EasyOCR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4496" y="3044952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06324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15984" y="3044952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89136" y="306324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392424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1071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รายงาน ปปง.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93008" y="3392424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60" y="341071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STR/CTR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54496" y="3392424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27648" y="341071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15984" y="3392424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89136" y="341071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3739896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" y="375818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PromptPay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3008" y="3739896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66160" y="375818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54496" y="3739896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375818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15984" y="3739896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89136" y="375818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087368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" y="4105656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Threat Hunting FATF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93008" y="4087368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66160" y="410565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5 รูปแบบ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54496" y="4087368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410565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15984" y="4087368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89136" y="4105656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4434840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792" y="4453128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Anomaly Detection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93008" y="4434840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60" y="445312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4 วิธี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54496" y="4434840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27648" y="445312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 บางส่วน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15984" y="4434840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9136" y="4453128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4782312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480060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Local LLM AI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493008" y="478231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66160" y="480060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Ollama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54496" y="478231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27648" y="480060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15984" y="4782312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89136" y="480060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5129784"/>
            <a:ext cx="292608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1792" y="514807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Customizable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493008" y="512978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66160" y="514807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มีโค้ดทั้งหมด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54496" y="512978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27648" y="514807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 Closed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015984" y="5129784"/>
            <a:ext cx="2743200" cy="34747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89136" y="514807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53E3E"/>
                </a:solidFill>
                <a:latin typeface="Noto Sans Thai"/>
              </a:rPr>
              <a:t>✗ Closed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8640" y="5477256"/>
            <a:ext cx="292608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1792" y="549554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Data Sovereignty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493008" y="547725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66160" y="549554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8A169"/>
                </a:solidFill>
                <a:latin typeface="Noto Sans Thai"/>
              </a:rPr>
              <a:t>✓ On-Premise 100%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54496" y="547725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27648" y="549554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 ขึ้นกับ deploy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15984" y="5477256"/>
            <a:ext cx="2743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89136" y="5495544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9E2E"/>
                </a:solidFill>
                <a:latin typeface="Noto Sans Thai"/>
              </a:rPr>
              <a:t>~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ขนาดโปรเจค BSIE v4.0 — ตัวเลข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3327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A169"/>
                </a:solidFill>
                <a:latin typeface="Noto Sans Thai"/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Python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96012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9393" y="103327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B3ED"/>
                </a:solidFill>
                <a:latin typeface="Noto Sans Tha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155448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React/TS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96012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0147" y="103327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69E2E"/>
                </a:solidFill>
                <a:latin typeface="Noto Sans Thai"/>
              </a:rPr>
              <a:t>~41,000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155448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Lines of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96012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0901" y="103327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6CB0"/>
                </a:solidFill>
                <a:latin typeface="Noto Sans Thai"/>
              </a:rPr>
              <a:t>120+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0901" y="155448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4884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2199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8BB78"/>
                </a:solidFill>
                <a:latin typeface="Noto Sans Tha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API Routers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9393" y="214884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9393" y="222199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6BCFA"/>
                </a:solidFill>
                <a:latin typeface="Noto Sans Thai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9393" y="274320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214884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0147" y="222199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D6B20"/>
                </a:solidFill>
                <a:latin typeface="Noto Sans Thai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7" y="274320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Core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0901" y="214884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0901" y="222199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B3ED"/>
                </a:solidFill>
                <a:latin typeface="Noto Sans Thai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0901" y="274320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DB 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3756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1071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A169"/>
                </a:solidFill>
                <a:latin typeface="Noto Sans Thai"/>
              </a:rPr>
              <a:t>244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Automated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9393" y="333756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9393" y="341071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69E2E"/>
                </a:solidFill>
                <a:latin typeface="Noto Sans Thai"/>
              </a:rPr>
              <a:t>500+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9393" y="393192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i18n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0147" y="333756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0147" y="341071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53E3E"/>
                </a:solidFill>
                <a:latin typeface="Noto Sans Tha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0147" y="393192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ธนาคารไทย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0901" y="333756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40901" y="341071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05AD5"/>
                </a:solidFill>
                <a:latin typeface="Noto Sans Tha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0901" y="393192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Pipeline Steps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52628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59943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D6B20"/>
                </a:solidFill>
                <a:latin typeface="Noto Sans Tha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2064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Alert Patterns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79393" y="452628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9393" y="459943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53E3E"/>
                </a:solidFill>
                <a:latin typeface="Noto Sans Tha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9393" y="512064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FATF Models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7" y="452628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0147" y="459943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6BCFA"/>
                </a:solidFill>
                <a:latin typeface="Noto Sans Tha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0147" y="512064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Anomaly Methods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40901" y="4526280"/>
            <a:ext cx="2602153" cy="105156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40901" y="4599432"/>
            <a:ext cx="26021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6CB0"/>
                </a:solidFill>
                <a:latin typeface="Noto Sans Thai"/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40901" y="5120640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Thai"/>
              </a:rPr>
              <a:t>Investigation Tabs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Thai"/>
              </a:rPr>
              <a:t>ROI — ผลตอบแทนการลงทุน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เวลาวิเคราะห์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996696"/>
            <a:ext cx="9082735" cy="384048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996696"/>
            <a:ext cx="8628598" cy="384048"/>
          </a:xfrm>
          <a:prstGeom prst="round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96696"/>
            <a:ext cx="871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Thai"/>
              </a:rPr>
              <a:t>จาก 3-5 วัน → 30 นาที ต่อคดี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ค่า 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956816"/>
            <a:ext cx="9082735" cy="384048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956816"/>
            <a:ext cx="9082735" cy="384048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956816"/>
            <a:ext cx="871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Thai"/>
              </a:rPr>
              <a:t>ประหยัด 742+ ล้านบาท/ปี (vs i2 1,484 สถานี)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ข้อผิดพลาด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916936"/>
            <a:ext cx="9082735" cy="384048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916936"/>
            <a:ext cx="6812051" cy="384048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916936"/>
            <a:ext cx="871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Thai"/>
              </a:rPr>
              <a:t>ลดข้อผิดพลาดจากวิเคราะห์ด้วยมือ — ลดอุทธรณ์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ตรวจจับเร็ว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877056"/>
            <a:ext cx="9082735" cy="384048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877056"/>
            <a:ext cx="7720324" cy="384048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877056"/>
            <a:ext cx="871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Thai"/>
              </a:rPr>
              <a:t>ป้องกันความเสียหายล่วงหน้า — ฟอกเงิน, ฉ้อโกง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Thai"/>
              </a:rPr>
              <a:t>ครอบคลุม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837176"/>
            <a:ext cx="9082735" cy="384048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0" y="4837176"/>
            <a:ext cx="7266188" cy="384048"/>
          </a:xfrm>
          <a:prstGeom prst="roundRect">
            <a:avLst/>
          </a:prstGeom>
          <a:solidFill>
            <a:srgbClr val="D6B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837176"/>
            <a:ext cx="871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Noto Sans Thai"/>
              </a:rPr>
              <a:t>1,484 สถานีตำรวจ — 77 จังหวัดทั่วประเทศ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1094415" cy="548640"/>
          </a:xfrm>
          <a:prstGeom prst="roundRect">
            <a:avLst/>
          </a:prstGeom>
          <a:solidFill>
            <a:srgbClr val="2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88152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Thai"/>
              </a:rPr>
              <a:t>คืนทุนใน 1 ปี — ค่า license i2 ปีเดียว &gt; งบ SPNI ทั้ง 3 ปี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Noto Sans Thai"/>
              </a:rPr>
              <a:t>ทีมพัฒนา + ประมาณการผู้ใช้งาน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5432907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A169"/>
                </a:solidFill>
                <a:latin typeface="Noto Sans Thai"/>
              </a:rPr>
              <a:t>Phase 1-2: ทำได้คนเดียว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6714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ผู้พัฒนาปัจจุบัน (ร.ต.อ.ณัฐวุฒิ) +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Claude AI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ผลงาน: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41,000 บรรทัด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, 244 tests, 120+ API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38A169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เพียงพอสำหรับ pilot + จังหวัดนำร่อง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960120"/>
            <a:ext cx="5432907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3027" y="1069848"/>
            <a:ext cx="50671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D6B20"/>
                </a:solidFill>
                <a:latin typeface="Noto Sans Thai"/>
              </a:rPr>
              <a:t>Phase 3-4: ต้องการทีม 8-12 คน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27" y="1417320"/>
            <a:ext cx="506714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D6B20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Backend Dev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2-3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Frontend Dev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1-2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D6B20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DevOps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1-2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AI/ML Engineer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1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DD6B20"/>
                </a:solidFill>
                <a:latin typeface="Noto Sans Thai"/>
              </a:rPr>
              <a:t>● 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QA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1-2</a:t>
            </a:r>
            <a:r>
              <a:rPr sz="1200" b="0">
                <a:solidFill>
                  <a:srgbClr val="1A202C"/>
                </a:solidFill>
                <a:latin typeface="Noto Sans Thai"/>
              </a:rPr>
              <a:t> │ Project Manager </a:t>
            </a:r>
            <a:r>
              <a:rPr sz="1200" b="1">
                <a:solidFill>
                  <a:srgbClr val="1A202C"/>
                </a:solidFill>
                <a:latin typeface="Noto Sans Tha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9441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4728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  <a:latin typeface="Noto Sans Thai"/>
              </a:rPr>
              <a:t>ประมาณการผู้ใช้งาน — จากจังหวัดสู่ทั้งประเทศ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2636443" cy="38404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1363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Thai"/>
              </a:rPr>
              <a:t>ระดับ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9403" y="3886200"/>
            <a:ext cx="2636443" cy="38404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2555" y="391363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ผู้ใช้พร้อมกัน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7" y="3886200"/>
            <a:ext cx="2636443" cy="38404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8999" y="391363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ธุรกรรม/เดือน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291" y="3886200"/>
            <a:ext cx="2636443" cy="38404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443" y="391363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Storage/ปี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2511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Phase 1 (pilot)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9403" y="429768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2555" y="432511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1-3 คน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7" y="429768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8999" y="432511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10,000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291" y="429768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443" y="432511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1 GB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0916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73659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Phase 2 (5 จังหวัด)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9403" y="470916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2555" y="473659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50-150 คน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7" y="470916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8999" y="473659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500,000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291" y="470916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443" y="473659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50 GB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12064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14807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Phase 3 (20 จังหวัด)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9403" y="512064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2555" y="514807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200-600 คน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7" y="512064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8999" y="514807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2,000,000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291" y="5120640"/>
            <a:ext cx="2636443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443" y="514807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200 GB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53212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55955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Noto Sans Thai"/>
              </a:rPr>
              <a:t>Phase 4 (ทั้งประเทศ)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59403" y="553212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32555" y="555955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2,000-5,000 คน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5847" y="553212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68999" y="555955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10,000,000+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291" y="5532120"/>
            <a:ext cx="2636443" cy="384048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05443" y="5559552"/>
            <a:ext cx="24901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02C"/>
                </a:solidFill>
                <a:latin typeface="Noto Sans Thai"/>
              </a:rPr>
              <a:t>1+ TB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Noto Sans Thai"/>
              </a:rPr>
              <a:t>สรุปและขั้นตอนถัดไป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097280"/>
            <a:ext cx="1371600" cy="381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8BB78"/>
                </a:solidFill>
                <a:latin typeface="Noto Sans Tha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08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Thai"/>
              </a:rPr>
              <a:t>BSIE v4.0 พร้อมใช้วันนี้ — ไม่ต้องรองบประมาณ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3B3ED"/>
                </a:solidFill>
                <a:latin typeface="Noto Sans Tha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40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Thai"/>
              </a:rPr>
              <a:t>ทดลอง Pilot กับคดีจริง 5-10 คดี (ฟรี)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9E2E"/>
                </a:solidFill>
                <a:latin typeface="Noto Sans Tha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Thai"/>
              </a:rPr>
              <a:t>เก็บ feedback จากพนักงานสอบสวน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C8181"/>
                </a:solidFill>
                <a:latin typeface="Noto Sans Tha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Thai"/>
              </a:rPr>
              <a:t>เสนองบ Phase 2: ~8 ล้านบาท (5 จังหวัดนำร่อง)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BCFA"/>
                </a:solidFill>
                <a:latin typeface="Noto Sans Tha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Thai"/>
              </a:rPr>
              <a:t>ขยายสู่ SPNI Platform ทั้งประเทศ — 77 จังหวัด 1,484 สถานี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11094415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23951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69E2E"/>
                </a:solidFill>
                <a:latin typeface="Noto Sans Thai"/>
              </a:rPr>
              <a:t>งบ SPNI ทั้ง 3 ปี (~170 ล้าน)  &lt;  ค่า license i2 ปีเดียว (742+ ล้าน)  →  คืนทุนทันที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EC0"/>
                </a:solidFill>
                <a:latin typeface="Noto Sans Thai"/>
              </a:rPr>
              <a:t>ร้อยตำรวจเอกณัฐวุฒิ สาหร่ายทอง │ โทร: 096-776-8757 │ BSIE v4.0 — Bank Statement Intelligence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