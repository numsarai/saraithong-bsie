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Noto Sans Thai"/>
              </a:rPr>
              <a:t>สำนักงานตำรวจแห่งชาติ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Noto Sans Thai"/>
              </a:rPr>
              <a:t>SPNI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3B3ED"/>
                </a:solidFill>
                <a:latin typeface="Noto Sans Thai"/>
              </a:rPr>
              <a:t>Smart Police &amp; National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3017520"/>
            <a:ext cx="1371600" cy="381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Noto Sans Thai"/>
              </a:rPr>
              <a:t>โมดูลแรก: BSIE v4.0 — Bank Statement Intelligence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EE3F8"/>
                </a:solidFill>
                <a:latin typeface="Noto Sans Thai"/>
              </a:rPr>
              <a:t>ระบบวิเคราะห์ธุรกรรมทางการเงินอัจฉริยะ สำหรับงานสืบสวนสอบสวน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0AEC0"/>
                </a:solidFill>
                <a:latin typeface="Noto Sans Thai"/>
              </a:rPr>
              <a:t>เอกสารประกอบการนำเสนอเพื่อของบประมาณระดับประเทศ
จัดทำโดย ร้อยตำรวจเอกณัฐวุฒิ สาหร่ายทอง
เมษายน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ระบบ SPNI — ภาพรวม 4 ส่วนงาน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EE3F8"/>
                </a:solidFill>
                <a:latin typeface="Noto Sans Thai"/>
              </a:rPr>
              <a:t>ระบบรวมเครื่องมือช่วยงานสืบสวนสอบสวน สำหรับ สตช. ทั้งประเทศ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602153" cy="1463040"/>
          </a:xfrm>
          <a:prstGeom prst="roundRect">
            <a:avLst/>
          </a:prstGeom>
          <a:solidFill>
            <a:srgbClr val="48BB78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260215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A0AEC0"/>
                </a:solidFill>
                <a:latin typeface="Noto Sans Thai"/>
              </a:rPr>
              <a:t>โมดูล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60215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Thai"/>
              </a:rPr>
              <a:t>วิเคราะห์การเงิน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0215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v4.0 พร้อมใช้ 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9081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3B3ED"/>
                </a:solidFill>
                <a:latin typeface="Noto Sans Tha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79393" y="1417320"/>
            <a:ext cx="2602153" cy="14630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9393" y="1463040"/>
            <a:ext cx="260215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A0AEC0"/>
                </a:solidFill>
                <a:latin typeface="Noto Sans Thai"/>
              </a:rPr>
              <a:t>โมดูล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9393" y="1737360"/>
            <a:ext cx="260215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Thai"/>
              </a:rPr>
              <a:t>วิเคราะห์โทรศัพท์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9393" y="2148840"/>
            <a:ext cx="260215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0AEC0"/>
                </a:solidFill>
                <a:latin typeface="Noto Sans Thai"/>
              </a:rPr>
              <a:t>วางแผน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9835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3B3ED"/>
                </a:solidFill>
                <a:latin typeface="Noto Sans Tha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417320"/>
            <a:ext cx="2602153" cy="14630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147" y="1463040"/>
            <a:ext cx="260215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A0AEC0"/>
                </a:solidFill>
                <a:latin typeface="Noto Sans Thai"/>
              </a:rPr>
              <a:t>โมดูล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0147" y="1737360"/>
            <a:ext cx="260215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Thai"/>
              </a:rPr>
              <a:t>สื่อสังคมออนไลน์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147" y="2148840"/>
            <a:ext cx="260215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0AEC0"/>
                </a:solidFill>
                <a:latin typeface="Noto Sans Thai"/>
              </a:rPr>
              <a:t>วางแผน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0589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3B3ED"/>
                </a:solidFill>
                <a:latin typeface="Noto Sans Tha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40901" y="1417320"/>
            <a:ext cx="2602153" cy="14630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40901" y="1463040"/>
            <a:ext cx="260215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A0AEC0"/>
                </a:solidFill>
                <a:latin typeface="Noto Sans Thai"/>
              </a:rPr>
              <a:t>โมดูล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0901" y="1737360"/>
            <a:ext cx="260215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Thai"/>
              </a:rPr>
              <a:t>กล้องวงจรปิด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0901" y="2148840"/>
            <a:ext cx="260215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0AEC0"/>
                </a:solidFill>
                <a:latin typeface="Noto Sans Thai"/>
              </a:rPr>
              <a:t>วางแผน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154680"/>
            <a:ext cx="11094415" cy="14630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2004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Thai"/>
              </a:rPr>
              <a:t>ชั้นแบ่งปันข่าวกรองกลาง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657600"/>
            <a:ext cx="1567129" cy="41148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675887"/>
            <a:ext cx="156712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Thai"/>
              </a:rPr>
              <a:t>ทะเบียนบุคคล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18689" y="3657600"/>
            <a:ext cx="1567129" cy="41148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18689" y="3675887"/>
            <a:ext cx="156712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Thai"/>
              </a:rPr>
              <a:t>วิเคราะห์ความเชื่อมโยง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14418" y="3657600"/>
            <a:ext cx="1567129" cy="41148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14418" y="3675887"/>
            <a:ext cx="156712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Thai"/>
              </a:rPr>
              <a:t>จัดการคดี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0147" y="3657600"/>
            <a:ext cx="1567129" cy="411480"/>
          </a:xfrm>
          <a:prstGeom prst="round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0147" y="3675887"/>
            <a:ext cx="156712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Thai"/>
              </a:rPr>
              <a:t>AI ภายในเครื่อง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5876" y="3657600"/>
            <a:ext cx="1567129" cy="41148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5876" y="3675887"/>
            <a:ext cx="156712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Thai"/>
              </a:rPr>
              <a:t>สายโซ่หลักฐาน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01605" y="3657600"/>
            <a:ext cx="1567129" cy="4114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01605" y="3675887"/>
            <a:ext cx="156712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Thai"/>
              </a:rPr>
              <a:t>รายงาน กม.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2519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EE3F8"/>
                </a:solidFill>
                <a:latin typeface="Noto Sans Thai"/>
              </a:rPr>
              <a:t>ทุกส่วนงานเชื่อมข้อมูลกัน — ค้นพบคนเดียวกันจากบัญชีธนาคาร + โทรศัพท์ + สื่อสังคม + กล้องวงจรปิด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46320"/>
            <a:ext cx="11094415" cy="50292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7375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โครงสร้างพื้นฐาน: เซิร์ฟเวอร์ภายในหน่วยงาน │ AI ในเครื่อง │ ฐานข้อมูล │ เครือข่ายปลอดภัย │ ห้ามใช้ AI ภายนอก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66928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0AEC0"/>
                </a:solidFill>
                <a:latin typeface="Noto Sans Thai"/>
              </a:rPr>
              <a:t>ทำไมเริ่มจากระบบการเงิน?
1) คดีการเงินมากที่สุด  2) ข้อมูลมีโครงสร้างชัดเจน  3) เห็นผลเร็ว — 3 วัน→30 นาที  4) พื้นฐานสำหรับโมดูลอื่น  5) ไม่มีเครื่องมือฟรีที่ดีในตลาด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365D"/>
                </a:solidFill>
                <a:latin typeface="Noto Sans Thai"/>
              </a:rPr>
              <a:t>ปัญหาการสืบสวนทางการเงินในปัจจุบัน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5432907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53E3E"/>
                </a:solidFill>
                <a:latin typeface="Noto Sans Thai"/>
              </a:rPr>
              <a:t>ปัญหาที่พบ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067147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E53E3E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วิเคราะห์รายการเดินบัญชี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ด้วยมือ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ใช้เวลา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3-5 วัน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ต่อคดี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E53E3E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ดูได้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ทีละบัญชี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ไม่เห็น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ภาพรวมเครือข่าย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E53E3E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ใช้ Excel ธรรมดา ไม่มีเครื่องมือ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วิเคราะห์เฉพาะทาง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E53E3E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โปรแกรม i2 ราคา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500,000+ บาท/สิทธิ์/ปี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ไม่รองรับภาษาไทย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E53E3E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ไม่มีมาตรฐาน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รายงานส่ง ปปง.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E53E3E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ไม่มีระบบ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แจ้งเตือนอัตโนมัติ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— พลาดได้ง่าย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E53E3E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ข้อมูลกระจาย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หลาย Excel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ไม่เชื่อมโยงข้ามบัญชี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E53E3E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ไม่มีเครื่องมือฟรี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ที่ดีสำหรับตำรวจไทย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960120"/>
            <a:ext cx="5432907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3027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8A169"/>
                </a:solidFill>
                <a:latin typeface="Noto Sans Thai"/>
              </a:rPr>
              <a:t>BSIE แก้ได้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3027" y="1417320"/>
            <a:ext cx="5067147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ประมวลผลอัตโนมัติ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ภายใน 30 นาที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เชื่อมโยงข้ามบัญชี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เห็นเครือข่าย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ทั้งหมด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แผนภาพเครือข่าย แสดงลำดับเวลา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แจ้งเตือน 12 รูปแบบ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มี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แผนภาพเครือข่ายแบบ i2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ในตัว —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ฟรี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สร้าง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รายงานพร้อมส่ง ปปง.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ตามมาตรฐาน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ตรวจจับ 5 รูปแบบฟอกเงิน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ตามมาตรฐานสากลอัตโนมัติ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วิเคราะห์ทางสถิติ: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ค่าเบี่ยงเบน, ค่าผิดปกติ, กฎตัวเลขหลักแรก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ฟรี —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ไม่มีค่าสิทธิ์รายปี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รองรับ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ทั้งประเทศ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โครงสร้างระบบ BSIE v4.0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11094415" cy="960120"/>
          </a:xfrm>
          <a:prstGeom prst="round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69E2E"/>
                </a:solidFill>
                <a:latin typeface="Noto Sans Thai"/>
              </a:rPr>
              <a:t>ส่วนแสดงผล (หน้าจอ)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63040"/>
            <a:ext cx="1051560" cy="32004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63B3ED"/>
                </a:solidFill>
                <a:latin typeface="Noto Sans Thai"/>
              </a:rPr>
              <a:t>React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463040"/>
            <a:ext cx="1051560" cy="32004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472184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63B3ED"/>
                </a:solidFill>
                <a:latin typeface="Noto Sans Thai"/>
              </a:rPr>
              <a:t>TypeScript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463040"/>
            <a:ext cx="1051560" cy="32004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472184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63B3ED"/>
                </a:solidFill>
                <a:latin typeface="Noto Sans Thai"/>
              </a:rPr>
              <a:t>Vite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463040"/>
            <a:ext cx="1051560" cy="32004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72184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63B3ED"/>
                </a:solidFill>
                <a:latin typeface="Noto Sans Thai"/>
              </a:rPr>
              <a:t>Tailwind CSS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1463040"/>
            <a:ext cx="1051560" cy="32004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472184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63B3ED"/>
                </a:solidFill>
                <a:latin typeface="Noto Sans Thai"/>
              </a:rPr>
              <a:t>Zustand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63040"/>
            <a:ext cx="1051560" cy="32004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472184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63B3ED"/>
                </a:solidFill>
                <a:latin typeface="Noto Sans Thai"/>
              </a:rPr>
              <a:t>Cytoscape.js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463040"/>
            <a:ext cx="1051560" cy="32004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72184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63B3ED"/>
                </a:solidFill>
                <a:latin typeface="Noto Sans Thai"/>
              </a:rPr>
              <a:t>Recharts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1463040"/>
            <a:ext cx="1051560" cy="32004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0" y="1472184"/>
            <a:ext cx="1051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63B3ED"/>
                </a:solidFill>
                <a:latin typeface="Noto Sans Thai"/>
              </a:rPr>
              <a:t>react-i18next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057400"/>
            <a:ext cx="11094415" cy="960120"/>
          </a:xfrm>
          <a:prstGeom prst="roundRect">
            <a:avLst/>
          </a:prstGeom>
          <a:solidFill>
            <a:srgbClr val="153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8BB78"/>
                </a:solidFill>
                <a:latin typeface="Noto Sans Thai"/>
              </a:rPr>
              <a:t>ส่วนประมวลผล (เซิร์ฟเวอร์)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21305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Thai"/>
              </a:rPr>
              <a:t>Python 3.12 │ FastAPI │ 21 ชุดคำสั่ง │ 34 บริการ │ 120+ จุดเชื่อมต่อ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ingestion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36392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36392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search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78224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78224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0056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0056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alerts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61888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61888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fund_flow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03720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analytics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45552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5552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reports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87384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87384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auth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29216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29216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exports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671048" y="2560320"/>
            <a:ext cx="822960" cy="30175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71048" y="2569464"/>
            <a:ext cx="82296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8BB78"/>
                </a:solidFill>
                <a:latin typeface="Noto Sans Thai"/>
              </a:rPr>
              <a:t>workspace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3154680"/>
            <a:ext cx="5432907" cy="960120"/>
          </a:xfrm>
          <a:prstGeom prst="roundRect">
            <a:avLst/>
          </a:prstGeom>
          <a:solidFill>
            <a:srgbClr val="3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3200400"/>
            <a:ext cx="50671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69E2E"/>
                </a:solidFill>
                <a:latin typeface="Noto Sans Thai"/>
              </a:rPr>
              <a:t>แกนหลักประมวลผล — 30 ชุดโปรแกรม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3502152"/>
            <a:ext cx="506714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ตรวจจับธนาคาร, จับคู่คอลัมน์, วิเคราะห์ภาษา,
จัดรูปแบบข้อมูล, จำแนกประเภท, สร้างความเชื่อมโยง,
อ่าน PDF/รูปภาพ, ส่งออกรายงาน, AI ช่วยวิเคราะห์ ...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0147" y="3154680"/>
            <a:ext cx="5432907" cy="960120"/>
          </a:xfrm>
          <a:prstGeom prst="roundRect">
            <a:avLst/>
          </a:prstGeom>
          <a:solidFill>
            <a:srgbClr val="25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3027" y="3200400"/>
            <a:ext cx="50671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6BCFA"/>
                </a:solidFill>
                <a:latin typeface="Noto Sans Thai"/>
              </a:rPr>
              <a:t>34 บริการย่อย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3027" y="3502152"/>
            <a:ext cx="506714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แจ้งเตือน, ตรวจจับผิดปกติ, วิเคราะห์เครือข่าย,
ล่าภัยคุกคาม, ติดตามเส้นทางเงิน, ยืนยันตัวตน,
รายงาน ปปง., สรุปผล, คิวงาน, ตรวจสอบย้อนหลัง ...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251960"/>
            <a:ext cx="5432907" cy="731520"/>
          </a:xfrm>
          <a:prstGeom prst="roundRect">
            <a:avLst/>
          </a:prstGeom>
          <a:solidFill>
            <a:srgbClr val="1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4297680"/>
            <a:ext cx="50671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8BB78"/>
                </a:solidFill>
                <a:latin typeface="Noto Sans Thai"/>
              </a:rPr>
              <a:t>ฐานข้อมูล: 20 ตาราง พร้อมอัปเกรด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599432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20 ตาราง │ ระบบอัปเกรดอัตโนมัติ │ ปรับแต่งความเร็ว │ อัปเกรดเป็นฐานข้อมูลใหญ่ (เฟส 2)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0147" y="4251960"/>
            <a:ext cx="5432907" cy="731520"/>
          </a:xfrm>
          <a:prstGeom prst="roundRect">
            <a:avLst/>
          </a:prstGeom>
          <a:solidFill>
            <a:srgbClr val="25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93027" y="4297680"/>
            <a:ext cx="50671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C8181"/>
                </a:solidFill>
                <a:latin typeface="Noto Sans Thai"/>
              </a:rPr>
              <a:t>ปัญญาประดิษฐ์: AI ภายในเครื่อง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93027" y="4599432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อ่านภาพ/สแกน (ไทย+อังกฤษ) │ ดึงชื่อ/เบอร์/บัตร ปชช./พร้อมเพย์อัตโนมัติ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ฐานข้อมูล — 20 ตาราง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3327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A169"/>
                </a:solidFill>
                <a:latin typeface="Noto Sans Thai"/>
              </a:rPr>
              <a:t>FileRecord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ไฟล์ที่อัพโหลด + ตรวจสอบความถูกต้อง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96012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121" y="103327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A169"/>
                </a:solidFill>
                <a:latin typeface="Noto Sans Thai"/>
              </a:rPr>
              <a:t>ParserRun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9121" y="134416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ประวัติการประมวลผล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96012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9875" y="103327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Noto Sans Thai"/>
              </a:rPr>
              <a:t>Account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9875" y="134416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บัญชีทุกแห่ง (จัดรูปแบบแล้ว)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40901" y="96012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0629" y="103327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Noto Sans Thai"/>
              </a:rPr>
              <a:t>Transaction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0629" y="134416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ธุรกรรม 30+ ข้อมูล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92024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99339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A169"/>
                </a:solidFill>
                <a:latin typeface="Noto Sans Thai"/>
              </a:rPr>
              <a:t>StatementBatch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30428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ชุดรายการเดินบัญชี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9393" y="192024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9121" y="199339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A169"/>
                </a:solidFill>
                <a:latin typeface="Noto Sans Thai"/>
              </a:rPr>
              <a:t>RawImportRow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9121" y="230428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ข้อมูลดิบสำหรับนิติวิทยาศาสตร์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147" y="192024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9875" y="199339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05AD5"/>
                </a:solidFill>
                <a:latin typeface="Noto Sans Thai"/>
              </a:rPr>
              <a:t>Entity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9875" y="230428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บุคคล/นิติบุคคล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0901" y="192024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0629" y="199339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05AD5"/>
                </a:solidFill>
                <a:latin typeface="Noto Sans Thai"/>
              </a:rPr>
              <a:t>AccountEntityLink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0629" y="230428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เชื่อมบัญชี↔บุคคล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88036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295351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D6B20"/>
                </a:solidFill>
                <a:latin typeface="Noto Sans Thai"/>
              </a:rPr>
              <a:t>TransactionMatch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26440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จับคู่ข้ามบัญชี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79393" y="288036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E5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89121" y="295351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53E3E"/>
                </a:solidFill>
                <a:latin typeface="Noto Sans Thai"/>
              </a:rPr>
              <a:t>Alert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89121" y="326440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แจ้งเตือน + ระดับความรุนแรง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0147" y="288036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9875" y="295351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D6B20"/>
                </a:solidFill>
                <a:latin typeface="Noto Sans Thai"/>
              </a:rPr>
              <a:t>DuplicateGroup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9875" y="326440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กลุ่มข้อมูลซ้ำ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40901" y="288036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0629" y="295351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9E2E"/>
                </a:solidFill>
                <a:latin typeface="Noto Sans Thai"/>
              </a:rPr>
              <a:t>ReviewDecision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0629" y="326440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การตัดสินใจของนักวิเคราะห์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84048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391363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9E2E"/>
                </a:solidFill>
                <a:latin typeface="Noto Sans Thai"/>
              </a:rPr>
              <a:t>AuditLog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22452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ร่องรอยตรวจสอบทุกการกระทำ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79393" y="384048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89121" y="391363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3B3ED"/>
                </a:solidFill>
                <a:latin typeface="Noto Sans Thai"/>
              </a:rPr>
              <a:t>ExportJob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89121" y="422452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งานส่งออกรายงาน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0147" y="384048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FC81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19875" y="391363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C8181"/>
                </a:solidFill>
                <a:latin typeface="Noto Sans Thai"/>
              </a:rPr>
              <a:t>User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19875" y="422452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ผู้ใช้งาน + ระดับสิทธิ์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40901" y="384048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50629" y="391363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Noto Sans Thai"/>
              </a:rPr>
              <a:t>AdminSetting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0629" y="422452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ตั้งค่า + พื้นที่ทำงาน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80060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6B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487375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BCFA"/>
                </a:solidFill>
                <a:latin typeface="Noto Sans Thai"/>
              </a:rPr>
              <a:t>GraphAnnotation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518464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บันทึกบนจุดกราฟ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9393" y="480060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48B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89121" y="487375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BB78"/>
                </a:solidFill>
                <a:latin typeface="Noto Sans Thai"/>
              </a:rPr>
              <a:t>CaseTag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89121" y="518464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แท็กคดี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0147" y="480060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48B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19875" y="487375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BB78"/>
                </a:solidFill>
                <a:latin typeface="Noto Sans Thai"/>
              </a:rPr>
              <a:t>CaseTagLink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19875" y="518464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เชื่อมแท็ก↔ข้อมูล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40901" y="4800600"/>
            <a:ext cx="2602153" cy="7772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50629" y="4873752"/>
            <a:ext cx="238269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A169"/>
                </a:solidFill>
                <a:latin typeface="Noto Sans Thai"/>
              </a:rPr>
              <a:t>MappingProfile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50629" y="5184648"/>
            <a:ext cx="238269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Noto Sans Thai"/>
              </a:rPr>
              <a:t>แบบแผนจับคู่คอลัมน์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0AEC0"/>
                </a:solidFill>
                <a:latin typeface="Noto Sans Thai"/>
              </a:rPr>
              <a:t>25+ ดัชนีค้นหาเร็ว │ ป้องกันข้อมูลซ้ำ │ เชื่อมโยงตาราง │ ข้อมูลยืดหยุ่น │ อัปเกรดอัตโนมัติ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ขั้นตอนการประมวลผล — 14 ขั้นตอน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8A169"/>
                </a:solidFill>
                <a:latin typeface="Noto Sans Tha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โหลดไฟล์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1168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ทุกรูปแบบไฟล์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66213" y="96012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66213" y="109728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8A169"/>
                </a:solidFill>
                <a:latin typeface="Noto Sans Tha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6213" y="160020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ตรวจจับธนาคาร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65" y="201168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8 ธนาคารอัตโนมัติ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83787" y="96012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3787" y="109728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B6CB0"/>
                </a:solidFill>
                <a:latin typeface="Noto Sans Tha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3787" y="160020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จับคู่คอลัมน์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6939" y="201168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จับคู่อัจฉริยะ 3 ชั้น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1360" y="96012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1360" y="109728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B6CB0"/>
                </a:solidFill>
                <a:latin typeface="Noto Sans Tha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1360" y="160020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โหลดแบบแผน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4512" y="201168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จำรูปแบบที่เคยใช้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18934" y="96012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8934" y="109728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3B3ED"/>
                </a:solidFill>
                <a:latin typeface="Noto Sans Tha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8934" y="160020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จัดรูปข้อมูล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2086" y="201168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แปลงให้ตรงรูปแบบ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36507" y="96012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36507" y="109728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3B3ED"/>
                </a:solidFill>
                <a:latin typeface="Noto Sans Tha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6507" y="160020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ปรับมาตรฐาน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9659" y="201168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วันที่/จำนวนเงิน/เข้า-ออก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54081" y="96012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54081" y="109728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D6B20"/>
                </a:solidFill>
                <a:latin typeface="Noto Sans Tha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4081" y="160020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แยกเลขบัญชี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27233" y="201168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แยกและจัดรูปแบบ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56616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70332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D6B20"/>
                </a:solidFill>
                <a:latin typeface="Noto Sans Tha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20624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แยกรายละเอียด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461772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แยกรายละเอียด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66213" y="356616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66213" y="370332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05AD5"/>
                </a:solidFill>
                <a:latin typeface="Noto Sans Thai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66213" y="420624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ดึงชื่อ/เบอร์/ID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9365" y="461772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ชื่อไทย/เบอร์/บัตร ปชช.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83787" y="356616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3787" y="370332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05AD5"/>
                </a:solidFill>
                <a:latin typeface="Noto Sans Thai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83787" y="420624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จำแนกประเภท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6939" y="461772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เงินเข้า/เงินออก/โอน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01360" y="356616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01360" y="370332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69E2E"/>
                </a:solidFill>
                <a:latin typeface="Noto Sans Thai"/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01360" y="420624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สร้างเชื่อมโยง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74512" y="461772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จากบัญชี→ไปบัญชี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18934" y="356616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18934" y="370332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69E2E"/>
                </a:solidFill>
                <a:latin typeface="Noto Sans Thai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18934" y="420624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แก้ไขด้วยมือ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92086" y="461772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แก้ไขจากผู้วิเคราะห์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36507" y="356616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FC81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36507" y="370332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C8181"/>
                </a:solidFill>
                <a:latin typeface="Noto Sans Thai"/>
              </a:rP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36507" y="420624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สร้างทะเบียนบุคคล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09659" y="461772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สร้าง Entity list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4081" y="3566160"/>
            <a:ext cx="1388973" cy="22860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FC81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4081" y="3703320"/>
            <a:ext cx="13889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C8181"/>
                </a:solidFill>
                <a:latin typeface="Noto Sans Thai"/>
              </a:rPr>
              <a:t>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54081" y="4206240"/>
            <a:ext cx="138897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ส่งออกรายงาน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27233" y="4617720"/>
            <a:ext cx="12426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EE3F8"/>
                </a:solidFill>
                <a:latin typeface="Noto Sans Thai"/>
              </a:rPr>
              <a:t>ชุดข้อมูลบัญชี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365D"/>
                </a:solidFill>
                <a:latin typeface="Noto Sans Thai"/>
              </a:rPr>
              <a:t>การนำเข้าข้อมูล — รองรับทุกรูปแบบ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545738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65D"/>
                </a:solidFill>
                <a:latin typeface="Noto Sans Thai"/>
              </a:rPr>
              <a:t>8 ธนาคารไทย Auto-detect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17997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SCB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ไทยพาณิชย์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KBANK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กสิกรไทย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BBL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กรุงเทพ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KTB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กรุงไทย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BAY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กรุงศรี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TTB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ทหารไทยธนชาต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GSB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ออมสิน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BAAC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ธ.ก.ส.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960120"/>
            <a:ext cx="3545738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5858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65D"/>
                </a:solidFill>
                <a:latin typeface="Noto Sans Thai"/>
              </a:rPr>
              <a:t>รูปแบบไฟล์ +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5858" y="1463040"/>
            <a:ext cx="317997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Excel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(.xlsx / .xls) — ทุกธนาคาร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PDF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ข้อความ — pdfplumber extraction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PDF สแกน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EasyOCR + table reconstruction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รูปภาพ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(JPG/PNG/BMP) — EasyOCR Thai+EN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OFX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ธนาคารออนไลน์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SHA-256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ตรวจจับไฟล์ซ้ำอัตโนมัติ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960120"/>
            <a:ext cx="3545738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196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365D"/>
                </a:solidFill>
                <a:latin typeface="Noto Sans Thai"/>
              </a:rPr>
              <a:t>จับคู่คอลัมน์อัจฉริยะ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196" y="1463040"/>
            <a:ext cx="317997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จับคู่อัจฉริยะ 3 ชั้น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ตรง → ชื่อคล้าย → คล้ายคลึง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เรียนรู้เอง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จำรูปแบบที่เคยใช้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ตรวจเนื้อหา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อ่านข้อความในไฟล์ช่วยตัดสิน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ทำใหม่ได้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จับคู่ผิด? สั่งประมวลผลซ้ำ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ดึงข้อมูลอัตโนมัติ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ชื่อไทย, เบอร์โทร, บัตร ปชช., พร้อมเพย์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แผนภาพเครือข่ายการเงิน — แบบ i2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EE3F8"/>
                </a:solidFill>
                <a:latin typeface="Noto Sans Thai"/>
              </a:rPr>
              <a:t>แผนภาพเชื่อมโยงแบบโต้ตอบ — กดขยายได้ไม่จำกัด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432907" cy="46634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69E2E"/>
                </a:solidFill>
                <a:latin typeface="Noto Sans Thai"/>
              </a:rPr>
              <a:t>แผนภาพเชื่อมโยงแบบโต้ตอบ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506714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กดที่บัญชีใดก็ได้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ขยายเห็นเครือข่ายต่อได้เรื่อยๆ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5 รูปแบบการจัด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: วงกลม, กระจาย, กระชับ, ลำดับชั้น, พัด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ขนาดจุดตามยอดเงิน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ยอดมาก จุดใหญ่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สีขอบตามระดับเสี่ยง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แดง = น่าสงสัยมาก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แสดงยอดเงิน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บนเส้นเชื่อมได้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ปักหมุด / ซ่อน / เลือกหลายจุด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จัดระเบียบได้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ประวัติการค้นหา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ย้อนดูจุดที่เคยดูได้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บันทึกเป็นรูปภาพ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ใส่รายงานได้ทันที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188720"/>
            <a:ext cx="5432907" cy="46634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3027" y="12984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69E2E"/>
                </a:solidFill>
                <a:latin typeface="Noto Sans Thai"/>
              </a:rPr>
              <a:t>วิเคราะห์เครือข่าย + ติดตามเส้นทางเงิน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3027" y="1691640"/>
            <a:ext cx="506714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บัญชีที่เชื่อมต่อมากที่สุด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ศูนย์กลางเครือข่าย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บัญชีตัวกลาง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คนกลางที่เงินผ่านบ่อย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บัญชีที่เข้าถึงทุกคนเร็วที่สุด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ติดตามเส้นทางเงิน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ตามได้สูงสุด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4 ทอด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จดบันทึก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เขียนโน้ตบนจุดบัญชีได้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ติดป้าย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: ผู้ต้องสงสัย, พยาน, เหยื่อ, ตรวจสอบเพิ่ม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พื้นที่ทำงาน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บันทึกแผนภาพไว้ดูทีหลังได้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69E2E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ประวัติบุคคล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หน้ารวมข้อมูลทุกบัญชีของคนเดียวกัน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365D"/>
                </a:solidFill>
                <a:latin typeface="Noto Sans Thai"/>
              </a:rPr>
              <a:t>การแสดงผลข้อมูล — กราฟเวลา, แผนที่ความร้อน, หน้าสรุป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545738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Noto Sans Thai"/>
              </a:rPr>
              <a:t>กราฟเวลา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17997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แท่งกราฟ + จุด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แสดงธุรกรรมตามวัน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เลือกดูได้: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รายวัน / รายสัปดาห์ / รายเดือน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ดูรูปแบบธุรกรรมตามเวลา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พบช่วงเวลาที่มีธุรกรรมผิดปกติ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960120"/>
            <a:ext cx="3545738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5858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05AD5"/>
                </a:solidFill>
                <a:latin typeface="Noto Sans Thai"/>
              </a:rPr>
              <a:t>แผนที่ความร้อน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5858" y="1463040"/>
            <a:ext cx="317997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แสดงผลตาม ชั่วโมง × วัน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ครอบคลุม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24 ชม. × 7 วัน = 168 ช่อง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สีเข้ม = ธุรกรรมถี่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สีอ่อน = น้อย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ตรวจจับเวลาผิดปกติ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เช่น ตี 2-5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960120"/>
            <a:ext cx="3545738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196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8A169"/>
                </a:solidFill>
                <a:latin typeface="Noto Sans Thai"/>
              </a:rPr>
              <a:t>หน้าสรุปภาพรวม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196" y="1463040"/>
            <a:ext cx="317997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สรุปภาพรวม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— จำนวนเงินเข้า/ออก, สถิติ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ธุรกรรมล่าสุด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— ดูรายการใหม่ได้ทันที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บัญชียอดสูงสุด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— เรียงตามจำนวนเงิน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38A169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1A202C"/>
                </a:solidFill>
                <a:latin typeface="Noto Sans Thai"/>
              </a:rPr>
              <a:t>โหลดเร็ว</a:t>
            </a:r>
            <a:r>
              <a:rPr sz="1300" b="0">
                <a:solidFill>
                  <a:srgbClr val="1A202C"/>
                </a:solidFill>
                <a:latin typeface="Noto Sans Thai"/>
              </a:rPr>
              <a:t> — แสดงผลเฉพาะส่วนที่ต้องการ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ระบบแจ้งเตือนอัตโนมัติ — 12 รูปแบบ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545738" cy="5120640"/>
          </a:xfrm>
          <a:prstGeom prst="roundRect">
            <a:avLst/>
          </a:prstGeom>
          <a:solidFill>
            <a:srgbClr val="9C4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CC94B"/>
                </a:solidFill>
                <a:latin typeface="Noto Sans Thai"/>
              </a:rPr>
              <a:t>7 กฎตรวจจับจากเครือข่าย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17997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โอนซ้ำ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บัญชีคู่เดิมโอนกัน 3+ ครั้ง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เงินเข้าหลายทาง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รับจาก 3+ บัญชี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เงินออกหลายทาง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โอนไป 3+ บัญชี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เงินวนกลับ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A โอนให้ B แล้ว B โอนกลับ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บัญชีผ่านมือ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รับแล้วโอนต่อทันที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บัญชีศูนย์กลาง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เชื่อมกับ 6+ บัญชี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คู่ค้าซ้ำ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เจอคนเดิมหลายวัน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960120"/>
            <a:ext cx="3545738" cy="5120640"/>
          </a:xfrm>
          <a:prstGeom prst="roundRect">
            <a:avLst/>
          </a:prstGeom>
          <a:solidFill>
            <a:srgbClr val="9C4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5858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CC94B"/>
                </a:solidFill>
                <a:latin typeface="Noto Sans Thai"/>
              </a:rPr>
              <a:t>5 รูปแบบฟอกเงินตามมาตรฐานสากล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5858" y="1463040"/>
            <a:ext cx="317997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แบ่งรายการย่อย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โอนทีละน้อยหลายครั้ง หลีกเลี่ยงเกณฑ์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สร้างชั้นซ้อน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โอนผ่านหลายบัญชีเพื่อปิดบัง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เงินเข้า-ออกเร็ว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เข้ามาแล้วออกภายใน 24 ชม.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บัญชีนิ่งแล้วตื่น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ไม่ใช้นานแล้วมีเงินเข้าทันที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เงินวนกลับ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ส่งออกไปแล้ววนกลับมาที่เดิม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960120"/>
            <a:ext cx="3545738" cy="5120640"/>
          </a:xfrm>
          <a:prstGeom prst="roundRect">
            <a:avLst/>
          </a:prstGeom>
          <a:solidFill>
            <a:srgbClr val="9C4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196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CC94B"/>
                </a:solidFill>
                <a:latin typeface="Noto Sans Thai"/>
              </a:rPr>
              <a:t>4 วิธีตรวจจับทางคณิตศาสตร์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196" y="1463040"/>
            <a:ext cx="317997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ค่าเบี่ยงเบน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ยอดเงินผิดปกติจากค่าเฉลี่ย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ค่าผิดปกติ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ยอดเงินที่สูง/ต่ำกว่าพิสัยปกติ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กฎตัวเลขหลักแรก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ตัวเลขตั้งต้นไม่เป็นธรรมชาติ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ECC94B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FFFFFF"/>
                </a:solidFill>
                <a:latin typeface="Noto Sans Thai"/>
              </a:rPr>
              <a:t>ค่าเฉลี่ยเคลื่อนที่</a:t>
            </a:r>
            <a:r>
              <a:rPr sz="1200" b="0">
                <a:solidFill>
                  <a:srgbClr val="FFFFFF"/>
                </a:solidFill>
                <a:latin typeface="Noto Sans Thai"/>
              </a:rPr>
              <a:t> — เปรียบเทียบกับ 30 รายการก่อน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365D"/>
                </a:solidFill>
                <a:latin typeface="Noto Sans Thai"/>
              </a:rPr>
              <a:t>การวิเคราะห์ข้ามบัญชี + โต๊ะทำงานสืบสวน + รายงาน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5432907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Noto Sans Thai"/>
              </a:rPr>
              <a:t>วิเคราะห์ข้ามบัญชี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0671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ดูเส้นทางเงิน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ดูเงินเข้า/ออกของบัญชีใดก็ได้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เปรียบเทียบคู่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ดูธุรกรรมทั้งหมดระหว่าง 2 บัญชี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ติดตามเส้นทาง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ตามเงินจาก A ไป B ไป C ได้ถึง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4 ทอด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จับคู่ข้ามบัญชี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ตรวจทุกบัญชีพร้อมกันในครั้งเดียว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เปรียบเทียบช่วงเวลา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— เทียบ 2 ช่วงเวลาหาความต่าง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960120"/>
            <a:ext cx="5432907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3027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05AD5"/>
                </a:solidFill>
                <a:latin typeface="Noto Sans Thai"/>
              </a:rPr>
              <a:t>โต๊ะทำงานสืบสวน — 13 เครื่องมือ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3027" y="1417320"/>
            <a:ext cx="50671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805AD5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ฐานข้อมูล │ ไฟล์ │ ประมวลผล │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บัญชี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│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ค้นหา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805AD5"/>
                </a:solidFill>
                <a:latin typeface="Noto Sans Thai"/>
              </a:rPr>
              <a:t>●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แจ้งเตือน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│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ข้ามบัญชี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│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แผนภาพเชื่อมโยง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│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ลำดับเวลา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805AD5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ข้อมูลซ้ำ │ จับคู่ │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ตรวจสอบย้อนหลัง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│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ส่งออก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11094415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67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69E2E"/>
                </a:solidFill>
                <a:latin typeface="Noto Sans Thai"/>
              </a:rPr>
              <a:t>รายงานพร้อมใช้ — 6 รูปแบบ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Noto Sans Thai"/>
              </a:rPr>
              <a:t>Excel (.xlsx)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206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Thai"/>
              </a:rPr>
              <a:t>14+ ชีท, TH Sarabun New, สีตามประเภท, สูตร =SUM/=COUNTA, auto-filter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727" y="4206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Noto Sans Thai"/>
              </a:rPr>
              <a:t>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647" y="4206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Thai"/>
              </a:rPr>
              <a:t>ปก + สถิติ + คู่สัญญา + alerts + ธุรกรรม + ช่องลงนาม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Noto Sans Thai"/>
              </a:rPr>
              <a:t>แผนภาพ i2 (.anx)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709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Thai"/>
              </a:rPr>
              <a:t>เปิดใน Analyst's Notebook ได้ทันที — XML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4709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Noto Sans Thai"/>
              </a:rPr>
              <a:t>นำเข้า i2 (.csv+.ximp)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647" y="4709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Thai"/>
              </a:rPr>
              <a:t>ข้อมูล 29 คอลัมน์ + ไฟล์นำเข้า i2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Noto Sans Thai"/>
              </a:rPr>
              <a:t>STR / CTR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5212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Thai"/>
              </a:rPr>
              <a:t>รูปแบบรายงาน ปปง. พร้อมส่ง — regulatory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Noto Sans Thai"/>
              </a:rPr>
              <a:t>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4647" y="5212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Noto Sans Thai"/>
              </a:rPr>
              <a:t>transactions, entities, links, reconciliation, graph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ความปลอดภัย, สายโซ่หลักฐาน, ภาษาไทย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545738" cy="393192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3B3ED"/>
                </a:solidFill>
                <a:latin typeface="Noto Sans Thai"/>
              </a:rPr>
              <a:t>ยืนยันตัวตน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317997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63B3ED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ล็อกอินด้วยรหัส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+ 3 ระดับ: ผู้ดูแล/นักวิเคราะห์/ผู้ชม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63B3ED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เข้ารหัสรหัสผ่าน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100,000 รอบ (ปลอดภัยสูง)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63B3ED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จำกัดการล็อกอินผิด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— ป้องกันเดารหัส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63B3ED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ตั้งค่าได้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— เปิด/ปิดระบบยืนยันตัวตน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960120"/>
            <a:ext cx="3545738" cy="393192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5858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C8181"/>
                </a:solidFill>
                <a:latin typeface="Noto Sans Thai"/>
              </a:rPr>
              <a:t>ป้องกันการโจมตี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5858" y="1417320"/>
            <a:ext cx="317997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C8181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ป้องกันฝังในเว็บอื่น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C8181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ป้องกันปลอมแปลงไฟล์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C8181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ไม่เปิดเผยที่มา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C8181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จำกัดประเภทไฟล์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— เฉพาะ Excel/PDF/CSV/รูปภาพ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C8181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จำกัดขนาดไฟล์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— ไม่เกิน 50 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960120"/>
            <a:ext cx="3545738" cy="393192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196" y="1069848"/>
            <a:ext cx="31799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69E2E"/>
                </a:solidFill>
                <a:latin typeface="Noto Sans Thai"/>
              </a:rPr>
              <a:t>สายโซ่หลักฐาน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196" y="1417320"/>
            <a:ext cx="317997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D69E2E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ร่องรอยตรวจสอบ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— บันทึกว่าใคร/ทำอะไร/เมื่อไหร่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D69E2E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สายโซ่หลักฐาน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— ประวัติครบถ้วนใช้เป็นหลักฐานได้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D69E2E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เรียกดูประวัติ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ผ่านระบบได้ทุกเมื่อ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D69E2E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ตรวจสอบความถูกต้อง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ของไฟล์หลักฐาน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D69E2E"/>
                </a:solidFill>
                <a:latin typeface="Noto Sans Thai"/>
              </a:rPr>
              <a:t>● </a:t>
            </a:r>
            <a:r>
              <a:rPr sz="1100" b="1">
                <a:solidFill>
                  <a:srgbClr val="FFFFFF"/>
                </a:solidFill>
                <a:latin typeface="Noto Sans Thai"/>
              </a:rPr>
              <a:t>ตรวจข้อมูลไฟล์</a:t>
            </a:r>
            <a:r>
              <a:rPr sz="1100" b="0">
                <a:solidFill>
                  <a:srgbClr val="FFFFFF"/>
                </a:solidFill>
                <a:latin typeface="Noto Sans Thai"/>
              </a:rPr>
              <a:t> — ใช้ทางนิติวิทยาศาสตร์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12080"/>
            <a:ext cx="11094415" cy="73152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Noto Sans Thai"/>
              </a:rPr>
              <a:t>ภาษาไทยเต็มระบบ: สลับ ไทย/อังกฤษ ได้ทั้งระบบ │ แปลแล้วกว่า 500 จุด │ ฟอนต์ TH Sarabun New ทุกรายงาน
ดึงชื่อไทย/เบอร์โทร/บัตร ปชช./พร้อมเพย์อัตโนมัติ │ ทดสอบแล้ว 244 ชุด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ทำไมต้องใช้ AI ภายในเครื่อง — ห้ามใช้ AI ภายนอก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5432907" cy="4846320"/>
          </a:xfrm>
          <a:prstGeom prst="roundRect">
            <a:avLst/>
          </a:prstGeom>
          <a:solidFill>
            <a:srgbClr val="74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C8181"/>
                </a:solidFill>
                <a:latin typeface="Noto Sans Thai"/>
              </a:rPr>
              <a:t>เหตุผลความจำเป็น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06714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ความลับทางราชการ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ระดับ 'ลับ' / 'ลับมาก'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พ.ร.บ. คุ้มครองข้อมูลส่วนบุคคล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เสี่ยงถูกนำข้อมูลไปเรียนรู้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AI ภายนอกอาจเอาข้อมูลคดีไปใช้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สายโซ่หลักฐาน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หลักฐานต้องไม่ผ่านระบบภายนอก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ระเบียบ สตช.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ข้อมูลสืบสวนต้องอยู่ในเครือข่ายภายใน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ป้องกันข้อมูลรั่วไหล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เลขบัญชี, ชื่อผู้ต้องสงสัย, เส้นทางเงิน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960120"/>
            <a:ext cx="5432907" cy="4846320"/>
          </a:xfrm>
          <a:prstGeom prst="roundRect">
            <a:avLst/>
          </a:prstGeom>
          <a:solidFill>
            <a:srgbClr val="74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3027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C8181"/>
                </a:solidFill>
                <a:latin typeface="Noto Sans Thai"/>
              </a:rPr>
              <a:t>AI ภายในเครื่องทำอะไรได้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3027" y="1417320"/>
            <a:ext cx="5067147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สรุปคดีให้อัตโนมัติ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เช่น 'พบเงินเข้าจาก 15 บัญชี รวม 3.2 ล้านบาท'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ตอบคำถาม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เช่น 'บัญชีนี้มีธุรกรรมเกิน 1 แสนกี่รายการ?'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จำแนกธุรกรรม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ช่วยตัดสินรายการที่ระบบไม่มั่นใจ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ตรวจจับรูปแบบ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— มีการแบ่งรายการย่อยหรือไม่?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FC8181"/>
                </a:solidFill>
                <a:latin typeface="Noto Sans Thai"/>
              </a:rPr>
              <a:t>● </a:t>
            </a:r>
            <a:r>
              <a:rPr sz="1300" b="1">
                <a:solidFill>
                  <a:srgbClr val="FFFFFF"/>
                </a:solidFill>
                <a:latin typeface="Noto Sans Thai"/>
              </a:rPr>
              <a:t>ร่างรายงาน ปปง.</a:t>
            </a:r>
            <a:r>
              <a:rPr sz="1300" b="0">
                <a:solidFill>
                  <a:srgbClr val="FFFFFF"/>
                </a:solidFill>
                <a:latin typeface="Noto Sans Thai"/>
              </a:rPr>
              <a:t> ให้อัตโนมัติ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3027" y="4709159"/>
            <a:ext cx="506714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EBDBD"/>
                </a:solidFill>
                <a:latin typeface="Noto Sans Thai"/>
              </a:rPr>
              <a:t>แนะนำ: ใช้โปรแกรม Ollama + โมเดล Llama 3.1 หรือ Typhoon (เข้าใจภาษาไทย)
ต้องมีการ์ดจอ: NVIDIA RTX 4090 หรือ A6000
ติดตั้งง่าย — ใช้งานได้ทันที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โครงสร้างพื้นฐาน — เฟส 1 ถึง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5432907" cy="23774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48B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8BB78"/>
                </a:solidFill>
                <a:latin typeface="Noto Sans Thai"/>
              </a:rPr>
              <a:t>เฟส 1: เครื่องเดี่ยว (ฟรี)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067147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oto Sans Thai"/>
              </a:rPr>
              <a:t>ใช้คอมพิวเตอร์ที่มี → เปิดระบบ BSIE
ทำงานบนเครื่องเดียว ไม่ต้องต่อเน็ต
ไม่ต้องซื้อเซิร์ฟเวอร์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960120"/>
            <a:ext cx="5432907" cy="23774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3027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3B3ED"/>
                </a:solidFill>
                <a:latin typeface="Noto Sans Thai"/>
              </a:rPr>
              <a:t>เฟส 2: ใช้ร่วมกันทั้งจังหวัด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3027" y="1417320"/>
            <a:ext cx="5067147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oto Sans Thai"/>
              </a:rPr>
              <a:t>ตั้งเซิร์ฟเวอร์กลางจังหวัด ปลอดภัยด้วยรหัสลับ
ฐานข้อมูลใหญ่ + AI ภายในเครื่อง + การ์ดจอ
พนักงานสอบสวน 1-30 คน → เปิดผ่านเบราว์เซอร์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66160"/>
            <a:ext cx="11094415" cy="274320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67588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69E2E"/>
                </a:solidFill>
                <a:latin typeface="Noto Sans Thai"/>
              </a:rPr>
              <a:t>เฟส 3-4: ระดับจังหวัด / ภาค / ประเทศ (เซิร์ฟเวอร์ภายในหน่วยงาน)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69080"/>
            <a:ext cx="5250027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oto Sans Thai"/>
              </a:rPr>
              <a:t>Data Center จังหวัด / ภาค
  ├── Load Balancer (Nginx)
  ├── BSIE Backend ×2-3
  ├── PostgreSQL (primary+replica)
  ├── Redis (cache + session)
  ├── NAS/SAN (evidence)
  ├── Monitoring (Prometheus+Grafana)
  └── Backup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4069080"/>
            <a:ext cx="5250027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oto Sans Thai"/>
              </a:rPr>
              <a:t>Local LLM Cluster
  ├── GPU Server ×1-2 per ภาค
  ├── NVIDIA A6000 ×2 per server
  └── Llama 3.1 70B + Typhoon
เชื่อม VPN/HTTPS:
  สถานี อ.เมือง → VPN
  สถานี อ.เกาะสมุย → VPN
  บก.จว. → VPN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แผนพัฒนาระบบ SPNI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331720"/>
            <a:ext cx="11094415" cy="38100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25400" cy="274320"/>
          </a:xfrm>
          <a:prstGeom prst="rect">
            <a:avLst/>
          </a:prstGeom>
          <a:solidFill>
            <a:srgbClr val="718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9202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A0AEC0"/>
                </a:solidFill>
                <a:latin typeface="Noto Sans Thai"/>
              </a:rPr>
              <a:t>พ.ศ. 2569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94560"/>
            <a:ext cx="25400" cy="274320"/>
          </a:xfrm>
          <a:prstGeom prst="rect">
            <a:avLst/>
          </a:prstGeom>
          <a:solidFill>
            <a:srgbClr val="718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9202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A0AEC0"/>
                </a:solidFill>
                <a:latin typeface="Noto Sans Thai"/>
              </a:rPr>
              <a:t>2570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194560"/>
            <a:ext cx="25400" cy="274320"/>
          </a:xfrm>
          <a:prstGeom prst="rect">
            <a:avLst/>
          </a:prstGeom>
          <a:solidFill>
            <a:srgbClr val="718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9202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A0AEC0"/>
                </a:solidFill>
                <a:latin typeface="Noto Sans Thai"/>
              </a:rPr>
              <a:t>2571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0" y="2194560"/>
            <a:ext cx="25400" cy="274320"/>
          </a:xfrm>
          <a:prstGeom prst="rect">
            <a:avLst/>
          </a:prstGeom>
          <a:solidFill>
            <a:srgbClr val="718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19202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A0AEC0"/>
                </a:solidFill>
                <a:latin typeface="Noto Sans Thai"/>
              </a:rPr>
              <a:t>2572+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75688"/>
            <a:ext cx="2103120" cy="5029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Thai"/>
              </a:rPr>
              <a:t>เฟส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1343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Thai"/>
              </a:rPr>
              <a:t>ทดลอง</a:t>
            </a:r>
          </a:p>
        </p:txBody>
      </p:sp>
      <p:sp>
        <p:nvSpPr>
          <p:cNvPr id="16" name="Diamond 15"/>
          <p:cNvSpPr/>
          <p:nvPr/>
        </p:nvSpPr>
        <p:spPr>
          <a:xfrm>
            <a:off x="480060" y="2263140"/>
            <a:ext cx="137160" cy="137160"/>
          </a:xfrm>
          <a:prstGeom prst="diamond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14600"/>
            <a:ext cx="1463040" cy="3200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532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A169"/>
                </a:solidFill>
                <a:latin typeface="Noto Sans Thai"/>
              </a:rPr>
              <a:t>ฟรี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88036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AEC0"/>
                </a:solidFill>
                <a:latin typeface="Noto Sans Thai"/>
              </a:rPr>
              <a:t>เดือน 1-3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225296"/>
            <a:ext cx="2103120" cy="740664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29844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BSIE v4.0 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1499616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ทดลอง 5-10 คดีจริง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170078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เก็บ feedback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075688"/>
            <a:ext cx="256032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207568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Thai"/>
              </a:rPr>
              <a:t>เฟส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231343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Thai"/>
              </a:rPr>
              <a:t>จังหวัดนำร่อง</a:t>
            </a:r>
          </a:p>
        </p:txBody>
      </p:sp>
      <p:sp>
        <p:nvSpPr>
          <p:cNvPr id="27" name="Diamond 26"/>
          <p:cNvSpPr/>
          <p:nvPr/>
        </p:nvSpPr>
        <p:spPr>
          <a:xfrm>
            <a:off x="2766060" y="2263140"/>
            <a:ext cx="137160" cy="137160"/>
          </a:xfrm>
          <a:prstGeom prst="diamond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83280" y="2514600"/>
            <a:ext cx="1463040" cy="3200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2532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B6CB0"/>
                </a:solidFill>
                <a:latin typeface="Noto Sans Thai"/>
              </a:rPr>
              <a:t>~8 ล้าน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8803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AEC0"/>
                </a:solidFill>
                <a:latin typeface="Noto Sans Thai"/>
              </a:rPr>
              <a:t>เดือน 4-9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34640" y="1024128"/>
            <a:ext cx="2560320" cy="94183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0" y="1097280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Server 5 จังหวัด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1298448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PostgreSQL + Multi-user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1499616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Local LLM + GPU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1700784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อบรม 5 จังหวัด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2075688"/>
            <a:ext cx="347472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207568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Thai"/>
              </a:rPr>
              <a:t>เฟส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231343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Thai"/>
              </a:rPr>
              <a:t>ขยายระบบ</a:t>
            </a:r>
          </a:p>
        </p:txBody>
      </p:sp>
      <p:sp>
        <p:nvSpPr>
          <p:cNvPr id="39" name="Diamond 38"/>
          <p:cNvSpPr/>
          <p:nvPr/>
        </p:nvSpPr>
        <p:spPr>
          <a:xfrm>
            <a:off x="5509260" y="2263140"/>
            <a:ext cx="137160" cy="137160"/>
          </a:xfrm>
          <a:prstGeom prst="diamond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583680" y="2514600"/>
            <a:ext cx="1463040" cy="3200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2532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D6B20"/>
                </a:solidFill>
                <a:latin typeface="Noto Sans Thai"/>
              </a:rPr>
              <a:t>~40 ล้าน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288036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AEC0"/>
                </a:solidFill>
                <a:latin typeface="Noto Sans Thai"/>
              </a:rPr>
              <a:t>เดือน 10-21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77840" y="1024128"/>
            <a:ext cx="3474720" cy="94183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1097280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CDR Module (โมดูล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0" y="1298448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Shared Intelligence Layer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1499616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Mobile App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1700784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ขยาย 20 จังหวัด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2075688"/>
            <a:ext cx="2404872" cy="502920"/>
          </a:xfrm>
          <a:prstGeom prst="round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2075688"/>
            <a:ext cx="2404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Thai"/>
              </a:rPr>
              <a:t>Phase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2313432"/>
            <a:ext cx="24048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Noto Sans Thai"/>
              </a:rPr>
              <a:t>ระดับประเทศ</a:t>
            </a:r>
          </a:p>
        </p:txBody>
      </p:sp>
      <p:sp>
        <p:nvSpPr>
          <p:cNvPr id="51" name="Diamond 50"/>
          <p:cNvSpPr/>
          <p:nvPr/>
        </p:nvSpPr>
        <p:spPr>
          <a:xfrm>
            <a:off x="9166860" y="2263140"/>
            <a:ext cx="137160" cy="137160"/>
          </a:xfrm>
          <a:prstGeom prst="diamond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06356" y="2514600"/>
            <a:ext cx="1463040" cy="32004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E5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06356" y="2532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3E3E"/>
                </a:solidFill>
                <a:latin typeface="Noto Sans Thai"/>
              </a:rPr>
              <a:t>~120 ล้าน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40" y="2880360"/>
            <a:ext cx="2404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AEC0"/>
                </a:solidFill>
                <a:latin typeface="Noto Sans Thai"/>
              </a:rPr>
              <a:t>ปีที่ 3+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235440" y="1024128"/>
            <a:ext cx="2404872" cy="941832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1097280"/>
            <a:ext cx="22219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Social + CCTV Module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26880" y="1298448"/>
            <a:ext cx="22219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77 จว. ทั้งประเทศ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6880" y="1499616"/>
            <a:ext cx="22219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Data Center ×10 ภาค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1700784"/>
            <a:ext cx="22219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Thai"/>
              </a:rPr>
              <a:t>● เชื่อม ปปง./DSI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5669280"/>
            <a:ext cx="11094415" cy="502920"/>
          </a:xfrm>
          <a:prstGeom prst="roundRect">
            <a:avLst/>
          </a:prstGeom>
          <a:solidFill>
            <a:srgbClr val="2D3748"/>
          </a:solidFill>
          <a:ln w="1905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56967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Thai"/>
              </a:rPr>
              <a:t>งบประมาณรวม 3 ปี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696712"/>
            <a:ext cx="69796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69E2E"/>
                </a:solidFill>
                <a:latin typeface="Noto Sans Thai"/>
              </a:rPr>
              <a:t>~170 ล้านบาท │ ฟรี → 8 ล้าน → 40 ล้าน → 120 ล้าน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30936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0AEC0"/>
                </a:solidFill>
                <a:latin typeface="Noto Sans Thai"/>
              </a:rPr>
              <a:t>เฟส 1 เริ่มได้ทันที (ฟรี) → เฟส 2 ของบหลังทดลองสำเร็จ → เฟส 3-4 ขยายตามผลลัพธ์จริง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202C"/>
                </a:solidFill>
                <a:latin typeface="Noto Sans Thai"/>
              </a:rPr>
              <a:t>งบประมาณระดับประเทศ — ระบบ SPNI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8625535" cy="576072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05256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A169"/>
                </a:solidFill>
                <a:latin typeface="Noto Sans Thai"/>
              </a:rPr>
              <a:t>เฟส 1: ทดลอง (3 เดือน)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430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ใช้เครื่อง PC ที่มีอยู่ + ซอฟต์แวร์ BSIE v4.0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430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ฟรี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65615" y="941832"/>
            <a:ext cx="2103120" cy="3657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65615" y="9418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ฟรี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17904"/>
            <a:ext cx="8625535" cy="160020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Noto Sans Thai"/>
              </a:rPr>
              <a:t>เฟส 2: นำร่อง 5 จังหวัด (6 เดือน)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79222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เซิร์ฟเวอร์หลัก ×5 (CPU 8-core, 32GB, 1TB SSD)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79222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1,500,000 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04825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เซิร์ฟเวอร์ AI + การ์ดจอ ×5 (RTX 4090/A6000)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4825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5,000,000 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0428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Network / UPS / อุปกรณ์ ×5 จังหวัด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3042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500,000 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5603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อัปเกรดฐานข้อมูล + พัฒนาเพิ่ม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560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500,000 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อบรมพนักงานสอบสวน 5 จังหวัด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8163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300,000 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65615" y="1591056"/>
            <a:ext cx="2103120" cy="36576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5615" y="159105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~8 ล้าน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191256"/>
            <a:ext cx="8625535" cy="1344168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2783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D6B20"/>
                </a:solidFill>
                <a:latin typeface="Noto Sans Thai"/>
              </a:rPr>
              <a:t>เฟส 3: ขยาย 20 จังหวัด + โมดูล 2 (12 เดือน)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46557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ระบบวิเคราะห์โทรศัพท์ (ส่วนงาน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346557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8,000,000 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72160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Server + GPU ×20 จังหวัด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7216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20,000,000 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397764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ระบบข่าวกรองกลาง + แอปมือถือ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9776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7,000,000 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23367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ทีมพัฒนา 5-8 คน × 12 เดือน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42336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5,000,000 ฿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65615" y="3264408"/>
            <a:ext cx="2103120" cy="36576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5615" y="326440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~40 ล้าน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608576"/>
            <a:ext cx="8625535" cy="1344168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515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53E3E"/>
                </a:solidFill>
                <a:latin typeface="Noto Sans Thai"/>
              </a:rPr>
              <a:t>เฟส 4: ทั้งประเทศ 77 จังหวัด + 10 ภาค (ปีที่ 2-3)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88289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ระบบสื่อสังคม + กล้องวงจรปิด (ส่วนงาน 3-4)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48828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30,000,000 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13892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ศูนย์ข้อมูลระดับภาค ×10 + GPU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51389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40,000,000 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394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ติดตั้ง 77 จังหวัด — server + network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0" y="5394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30,000,000 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65099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02C"/>
                </a:solidFill>
                <a:latin typeface="Noto Sans Thai"/>
              </a:rPr>
              <a:t>ทีมพัฒนา 15 คน + อบรมทั่วประเทศ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56509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Noto Sans Thai"/>
              </a:rPr>
              <a:t>20,000,000 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65615" y="4681728"/>
            <a:ext cx="2103120" cy="365760"/>
          </a:xfrm>
          <a:prstGeom prst="round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65615" y="46817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~120 ล้าน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6071616"/>
            <a:ext cx="11094415" cy="502920"/>
          </a:xfrm>
          <a:prstGeom prst="round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09904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Thai"/>
              </a:rPr>
              <a:t>รวมทั้งโครงการ 3 ปี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6099048"/>
            <a:ext cx="6065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D69E2E"/>
                </a:solidFill>
                <a:latin typeface="Noto Sans Thai"/>
              </a:rPr>
              <a:t>~170 ล้านบาท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365D"/>
                </a:solidFill>
                <a:latin typeface="Noto Sans Thai"/>
              </a:rPr>
              <a:t>จุดเด่นของงบประมาณ SPNI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09728" cy="109728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60120"/>
            <a:ext cx="10911535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33272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8A169"/>
                </a:solidFill>
                <a:latin typeface="Noto Sans Thai"/>
              </a:rPr>
              <a:t>ไม่มีค่าสิทธิ์ใช้งานรายปี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9903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Noto Sans Thai"/>
              </a:rPr>
              <a:t>ซอฟต์แวร์ทั้งหมดพัฒนาเอง + Open Source — จ่ายครั้งเดียว ใช้ตลอด
เปรียบเทียบ: i2 = 500,000 ฿/คน/ปี × 1,484 สถานี = 742 ล้าน/ปี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109728" cy="109728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10911535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13432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Noto Sans Thai"/>
              </a:rPr>
              <a:t>ขยายได้ไม่จำกัด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Noto Sans Thai"/>
              </a:rPr>
              <a:t>เพิ่มสถานีใหม่ = แค่เพิ่ม server ไม่ต้องจ่าย license เพิ่ม
รองรับ 1,484 สถานี ~15,000-20,000 พนักงานสอบสวนทั่วประเทศ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0440"/>
            <a:ext cx="109728" cy="109728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520440"/>
            <a:ext cx="10911535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93592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D6B20"/>
                </a:solidFill>
                <a:latin typeface="Noto Sans Thai"/>
              </a:rPr>
              <a:t>ปรับแต่งได้ตามต้องการ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5935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Noto Sans Thai"/>
              </a:rPr>
              <a:t>มีโค้ดทั้งหมด — แก้ไข ปรับแต่ง เพิ่มฟีเจอร์ ได้เอง
ไม่ต้องพึ่งบริษัทต่างชาติ — เป็นสมบัติของ สตช.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00600"/>
            <a:ext cx="109728" cy="109728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4800600"/>
            <a:ext cx="10911535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73752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53E3E"/>
                </a:solidFill>
                <a:latin typeface="Noto Sans Thai"/>
              </a:rPr>
              <a:t>อธิปไตยข้อมูล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3951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Noto Sans Thai"/>
              </a:rPr>
              <a:t>ข้อมูลทั้งหมดอยู่ในเซิร์ฟเวอร์ภายในหน่วยงานของ สตช.
ไม่มีข้อมูลคดีออกนอกประเทศ — Local LLM เท่านั้น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365D"/>
                </a:solidFill>
                <a:latin typeface="Noto Sans Thai"/>
              </a:rPr>
              <a:t>เปรียบเทียบกับโปรแกรมที่ขายในตลาด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2926080" cy="34747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978408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Noto Sans Thai"/>
              </a:rPr>
              <a:t>คุณสมบัติ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93008" y="960120"/>
            <a:ext cx="2743200" cy="34747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97840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BSIE (SPNI)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960120"/>
            <a:ext cx="2743200" cy="34747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7648" y="97840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i2 Analyst's 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960120"/>
            <a:ext cx="2743200" cy="34747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89136" y="97840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Cellebrite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307592"/>
            <a:ext cx="292608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325880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ราคา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1307592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32588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ฟรี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307592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32588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500,000 ฿/คน/ปี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1307592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132588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300,000 ฿/คน/ปี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655064"/>
            <a:ext cx="292608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1673352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ค่าใช้จ่าย 1,484 สถานี/ปี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93008" y="1655064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67335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ค่า server เท่านั้น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4496" y="1655064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167335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742+ ล้าน/ปี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15984" y="1655064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9136" y="167335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445+ ล้าน/ปี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002536"/>
            <a:ext cx="292608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2020824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ภาษาไทย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2002536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202082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เต็มระบบ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54496" y="2002536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202082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15984" y="2002536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89136" y="202082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2350008"/>
            <a:ext cx="292608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2368296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ธนาคารไทย 8 แห่ง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93008" y="2350008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66160" y="2368296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ตรวจจับอัตโนมัติ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54496" y="2350008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7648" y="2368296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 setup เอง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5984" y="2350008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89136" y="2368296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~ บางส่วน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2697480"/>
            <a:ext cx="292608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" y="2715768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กราฟเครือข่าย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93008" y="2697480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66160" y="271576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mini i2 (5 layout)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54496" y="2697480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27648" y="271576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✓ เต็มรูปแบบ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15984" y="2697480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89136" y="271576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3044952"/>
            <a:ext cx="292608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" y="3063240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PDF/OCR ภาษาไทย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93008" y="3044952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6160" y="306324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EasyOCR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54496" y="3044952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27648" y="306324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15984" y="3044952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306324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~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3392424"/>
            <a:ext cx="292608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1792" y="3410712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รายงาน ปปง.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493008" y="3392424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66160" y="341071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STR/CTR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54496" y="3392424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27648" y="341071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015984" y="3392424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089136" y="341071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~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8640" y="3739896"/>
            <a:ext cx="292608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" y="3758184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PromptPay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93008" y="3739896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66160" y="375818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54496" y="3739896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27648" y="375818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015984" y="3739896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89136" y="375818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48640" y="4087368"/>
            <a:ext cx="292608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" y="4105656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Threat Hunting FATF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493008" y="4087368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66160" y="4105656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5 รูปแบบ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54496" y="4087368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27648" y="4105656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015984" y="4087368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89136" y="4105656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~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48640" y="4434840"/>
            <a:ext cx="292608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1792" y="4453128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Anomaly Detection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93008" y="4434840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66160" y="445312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4 วิธี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54496" y="4434840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27648" y="445312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~ บางส่วน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015984" y="4434840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9136" y="4453128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~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48640" y="4782312"/>
            <a:ext cx="292608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" y="4800600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Local LLM AI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493008" y="4782312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66160" y="480060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Ollama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54496" y="4782312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27648" y="480060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015984" y="4782312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089136" y="4800600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8640" y="5129784"/>
            <a:ext cx="292608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1792" y="5148072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ปรับแต่ง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493008" y="5129784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66160" y="514807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มีโค้ดทั้งหมด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54496" y="5129784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27648" y="514807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 แก้ไขไม่ได้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9015984" y="5129784"/>
            <a:ext cx="2743200" cy="347472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089136" y="5148072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53E3E"/>
                </a:solidFill>
                <a:latin typeface="Noto Sans Thai"/>
              </a:rPr>
              <a:t>✗ แก้ไขไม่ได้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48640" y="5477256"/>
            <a:ext cx="292608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21792" y="5495544"/>
            <a:ext cx="27797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อธิปไตยข้อมูล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93008" y="5477256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66160" y="549554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A169"/>
                </a:solidFill>
                <a:latin typeface="Noto Sans Thai"/>
              </a:rPr>
              <a:t>✓ ภายในหน่วย 100%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254496" y="5477256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327648" y="549554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~ ขึ้นกับ deploy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015984" y="5477256"/>
            <a:ext cx="27432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089136" y="5495544"/>
            <a:ext cx="2596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69E2E"/>
                </a:solidFill>
                <a:latin typeface="Noto Sans Thai"/>
              </a:rPr>
              <a:t>~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ขนาดระบบ BSIE v4.0 — ตัวเลข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3327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8A169"/>
                </a:solidFill>
                <a:latin typeface="Noto Sans Thai"/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ไฟล์โปรแกรมหลัก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96012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79393" y="103327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3B3ED"/>
                </a:solidFill>
                <a:latin typeface="Noto Sans Tha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155448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ไฟล์หน้าจอแสดงผล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96012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0147" y="103327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69E2E"/>
                </a:solidFill>
                <a:latin typeface="Noto Sans Thai"/>
              </a:rPr>
              <a:t>~41,000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155448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บรรทัดโค้ด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40901" y="96012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40901" y="103327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B6CB0"/>
                </a:solidFill>
                <a:latin typeface="Noto Sans Thai"/>
              </a:rPr>
              <a:t>120+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0901" y="155448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จุดเชื่อมต่อ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2199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8BB78"/>
                </a:solidFill>
                <a:latin typeface="Noto Sans Tha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4320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ชุดคำสั่ง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9393" y="214884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9393" y="222199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6BCFA"/>
                </a:solidFill>
                <a:latin typeface="Noto Sans Thai"/>
              </a:rPr>
              <a:t>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9393" y="274320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บริการย่อย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147" y="214884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0147" y="222199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D6B20"/>
                </a:solidFill>
                <a:latin typeface="Noto Sans Thai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0147" y="274320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ชุดประมวลผล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0901" y="214884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40901" y="222199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3B3ED"/>
                </a:solidFill>
                <a:latin typeface="Noto Sans Thai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40901" y="274320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ตารางข้อมูล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33756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1071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8A169"/>
                </a:solidFill>
                <a:latin typeface="Noto Sans Thai"/>
              </a:rPr>
              <a:t>244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93192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ชุดทดสอบอัตโนมัติ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79393" y="333756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9393" y="341071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69E2E"/>
                </a:solidFill>
                <a:latin typeface="Noto Sans Thai"/>
              </a:rPr>
              <a:t>500+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79393" y="393192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จุดแปลภาษา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0147" y="333756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0147" y="341071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53E3E"/>
                </a:solidFill>
                <a:latin typeface="Noto Sans Tha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0147" y="393192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ธนาคารไทย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40901" y="333756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40901" y="341071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05AD5"/>
                </a:solidFill>
                <a:latin typeface="Noto Sans Thai"/>
              </a:rP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0901" y="393192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ขั้นตอนประมวลผล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52628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9943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D6B20"/>
                </a:solidFill>
                <a:latin typeface="Noto Sans Thai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12064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รูปแบบแจ้งเตือน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79393" y="452628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79393" y="459943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53E3E"/>
                </a:solidFill>
                <a:latin typeface="Noto Sans Tha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79393" y="512064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แบบจำลองฟอกเงิน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0147" y="452628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0147" y="459943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D6BCFA"/>
                </a:solidFill>
                <a:latin typeface="Noto Sans Tha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0147" y="512064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วิธีตรวจจับผิดปกติ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40901" y="4526280"/>
            <a:ext cx="2602153" cy="1051560"/>
          </a:xfrm>
          <a:prstGeom prst="round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40901" y="4599432"/>
            <a:ext cx="260215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B6CB0"/>
                </a:solidFill>
                <a:latin typeface="Noto Sans Thai"/>
              </a:rP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40901" y="5120640"/>
            <a:ext cx="260215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Noto Sans Thai"/>
              </a:rPr>
              <a:t>เครื่องมือสืบสวน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Thai"/>
              </a:rPr>
              <a:t>ROI — ผลตอบแทนการลงทุน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Thai"/>
              </a:rPr>
              <a:t>เวลาวิเคราะห์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996696"/>
            <a:ext cx="9082735" cy="384048"/>
          </a:xfrm>
          <a:prstGeom prst="roundRect">
            <a:avLst/>
          </a:prstGeom>
          <a:solidFill>
            <a:srgbClr val="225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60320" y="996696"/>
            <a:ext cx="8628598" cy="384048"/>
          </a:xfrm>
          <a:prstGeom prst="roundRect">
            <a:avLst/>
          </a:prstGeom>
          <a:solidFill>
            <a:srgbClr val="FC81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96696"/>
            <a:ext cx="871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Noto Sans Thai"/>
              </a:rPr>
              <a:t>จาก 3-5 วัน เหลือ 30 นาที ต่อคดี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Thai"/>
              </a:rPr>
              <a:t>ค่า license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956816"/>
            <a:ext cx="9082735" cy="384048"/>
          </a:xfrm>
          <a:prstGeom prst="roundRect">
            <a:avLst/>
          </a:prstGeom>
          <a:solidFill>
            <a:srgbClr val="225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1956816"/>
            <a:ext cx="9082735" cy="384048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956816"/>
            <a:ext cx="871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Noto Sans Thai"/>
              </a:rPr>
              <a:t>ประหยัด 742+ ล้านบาท/ปี (เทียบค่า i2 สำหรับ 1,484 สถานี)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80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Thai"/>
              </a:rPr>
              <a:t>ข้อผิดพลาด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2916936"/>
            <a:ext cx="9082735" cy="384048"/>
          </a:xfrm>
          <a:prstGeom prst="roundRect">
            <a:avLst/>
          </a:prstGeom>
          <a:solidFill>
            <a:srgbClr val="225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916936"/>
            <a:ext cx="6812051" cy="384048"/>
          </a:xfrm>
          <a:prstGeom prst="round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916936"/>
            <a:ext cx="871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Noto Sans Thai"/>
              </a:rPr>
              <a:t>ลดข้อผิดพลาดจากวิเคราะห์ด้วยมือ — ลดการอุทธรณ์คดี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Thai"/>
              </a:rPr>
              <a:t>ตรวจจับเร็ว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0" y="3877056"/>
            <a:ext cx="9082735" cy="384048"/>
          </a:xfrm>
          <a:prstGeom prst="roundRect">
            <a:avLst/>
          </a:prstGeom>
          <a:solidFill>
            <a:srgbClr val="225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60320" y="3877056"/>
            <a:ext cx="7720324" cy="384048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877056"/>
            <a:ext cx="871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Noto Sans Thai"/>
              </a:rPr>
              <a:t>ตรวจพบเร็ว ป้องกันความเสียหายล่วงหน้า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00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Thai"/>
              </a:rPr>
              <a:t>ครอบคลุม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4837176"/>
            <a:ext cx="9082735" cy="384048"/>
          </a:xfrm>
          <a:prstGeom prst="roundRect">
            <a:avLst/>
          </a:prstGeom>
          <a:solidFill>
            <a:srgbClr val="225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0320" y="4837176"/>
            <a:ext cx="7266188" cy="384048"/>
          </a:xfrm>
          <a:prstGeom prst="roundRect">
            <a:avLst/>
          </a:prstGeom>
          <a:solidFill>
            <a:srgbClr val="D6B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0" y="4837176"/>
            <a:ext cx="8716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Noto Sans Thai"/>
              </a:rPr>
              <a:t>1,484 สถานีตำรวจ — 77 จังหวัดทั่วประเทศ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225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788152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Noto Sans Thai"/>
              </a:rPr>
              <a:t>คืนทุนใน 1 ปี — ค่าสิทธิ์ i2 ปีเดียว มากกว่างบ SPNI ทั้ง 3 ปี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365D"/>
                </a:solidFill>
                <a:latin typeface="Noto Sans Thai"/>
              </a:rPr>
              <a:t>ทีมพัฒนา + ประมาณการผู้ใช้งาน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5432907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8A169"/>
                </a:solidFill>
                <a:latin typeface="Noto Sans Thai"/>
              </a:rPr>
              <a:t>เฟส 1-2: ทำได้คนเดียว + AI ช่วย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0671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ผู้พัฒนาปัจจุบัน (ร.ต.อ.ณัฐวุฒิ) +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Claude AI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ผลงาน: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41,000 บรรทัด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, 244 tests, 120+ API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38A169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เพียงพอสำหรับ pilot + จังหวัดนำร่อง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960120"/>
            <a:ext cx="5432907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3027" y="1069848"/>
            <a:ext cx="50671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D6B20"/>
                </a:solidFill>
                <a:latin typeface="Noto Sans Thai"/>
              </a:rPr>
              <a:t>เฟส 3-4: ต้องการทีม 8-12 คน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3027" y="1417320"/>
            <a:ext cx="50671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D6B20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โปรแกรมเมอร์ฝั่งเซิร์ฟเวอร์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2-3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│ ฝั่งหน้าจอ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1-2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D6B20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ดูแลระบบ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1-2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│ วิศวกร AI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1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DD6B20"/>
                </a:solidFill>
                <a:latin typeface="Noto Sans Thai"/>
              </a:rPr>
              <a:t>● 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ทดสอบ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1-2</a:t>
            </a:r>
            <a:r>
              <a:rPr sz="1200" b="0">
                <a:solidFill>
                  <a:srgbClr val="1A202C"/>
                </a:solidFill>
                <a:latin typeface="Noto Sans Thai"/>
              </a:rPr>
              <a:t> │ ผู้จัดการโครงการ </a:t>
            </a:r>
            <a:r>
              <a:rPr sz="1200" b="1">
                <a:solidFill>
                  <a:srgbClr val="1A202C"/>
                </a:solidFill>
                <a:latin typeface="Noto Sans Tha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1094415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4728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  <a:latin typeface="Noto Sans Thai"/>
              </a:rPr>
              <a:t>ประมาณการผู้ใช้งาน — จากจังหวัดสู่ทั้งประเทศ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2636443" cy="384048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91363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Noto Sans Thai"/>
              </a:rPr>
              <a:t>ระดับ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9403" y="3886200"/>
            <a:ext cx="2636443" cy="384048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2555" y="391363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ผู้ใช้พร้อมกัน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7" y="3886200"/>
            <a:ext cx="2636443" cy="384048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8999" y="391363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ธุรกรรม/เดือน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291" y="3886200"/>
            <a:ext cx="2636443" cy="384048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5443" y="391363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Thai"/>
              </a:rPr>
              <a:t>Storage/ปี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297680"/>
            <a:ext cx="2636443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32511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Phase 1 (pilot)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9403" y="4297680"/>
            <a:ext cx="2636443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32555" y="432511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1-3 คน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5847" y="4297680"/>
            <a:ext cx="2636443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8999" y="432511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10,000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291" y="4297680"/>
            <a:ext cx="2636443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05443" y="432511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1 GB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709160"/>
            <a:ext cx="2636443" cy="384048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73659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Phase 2 (5 จังหวัด)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59403" y="4709160"/>
            <a:ext cx="2636443" cy="384048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32555" y="473659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50-150 คน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5847" y="4709160"/>
            <a:ext cx="2636443" cy="384048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68999" y="473659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500,000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32291" y="4709160"/>
            <a:ext cx="2636443" cy="384048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05443" y="473659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50 GB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120640"/>
            <a:ext cx="2636443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14807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Phase 3 (20 จังหวัด)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59403" y="5120640"/>
            <a:ext cx="2636443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2555" y="514807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200-600 คน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5847" y="5120640"/>
            <a:ext cx="2636443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68999" y="514807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2,000,000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32291" y="5120640"/>
            <a:ext cx="2636443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05443" y="514807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200 GB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32120"/>
            <a:ext cx="2636443" cy="384048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55955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Noto Sans Thai"/>
              </a:rPr>
              <a:t>Phase 4 (ทั้งประเทศ)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59403" y="5532120"/>
            <a:ext cx="2636443" cy="384048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32555" y="555955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2,000-5,000 คน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95847" y="5532120"/>
            <a:ext cx="2636443" cy="384048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8999" y="555955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10,000,000+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32291" y="5532120"/>
            <a:ext cx="2636443" cy="384048"/>
          </a:xfrm>
          <a:prstGeom prst="round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5443" y="5559552"/>
            <a:ext cx="24901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202C"/>
                </a:solidFill>
                <a:latin typeface="Noto Sans Thai"/>
              </a:rPr>
              <a:t>1+ TB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Thai"/>
              </a:rPr>
              <a:t>สรุปและขั้นตอนถัดไป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4960" y="1097280"/>
            <a:ext cx="1371600" cy="381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14630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8BB78"/>
                </a:solidFill>
                <a:latin typeface="Noto Sans Thai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508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Noto Sans Thai"/>
              </a:rPr>
              <a:t>BSIE v4.0 พร้อมใช้วันนี้ — ไม่ต้องรองบประมาณ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1945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63B3ED"/>
                </a:solidFill>
                <a:latin typeface="Noto Sans Thai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240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Noto Sans Thai"/>
              </a:rPr>
              <a:t>ทดลองใช้กับคดีจริง 5-10 คดี (ฟรี)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9260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9E2E"/>
                </a:solidFill>
                <a:latin typeface="Noto Sans Thai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971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Noto Sans Thai"/>
              </a:rPr>
              <a:t>เก็บความเห็นจากพนักงานสอบสวน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6576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C8181"/>
                </a:solidFill>
                <a:latin typeface="Noto Sans Thai"/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03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Noto Sans Thai"/>
              </a:rPr>
              <a:t>เสนองบเฟส 2: ~8 ล้านบาท (5 จังหวัดนำร่อง)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3891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BCFA"/>
                </a:solidFill>
                <a:latin typeface="Noto Sans Thai"/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4348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Noto Sans Thai"/>
              </a:rPr>
              <a:t>ขยายสู่ระบบ SPNI ทั้งประเทศ — 77 จังหวัด 1,484 สถานี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12080"/>
            <a:ext cx="11094415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23951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69E2E"/>
                </a:solidFill>
                <a:latin typeface="Noto Sans Thai"/>
              </a:rPr>
              <a:t>งบ SPNI ทั้ง 3 ปี (~170 ล้าน) น้อยกว่า ค่าสิทธิ์ i2 ปีเดียว (742+ ล้าน) คืนทุนทันที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2648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0AEC0"/>
                </a:solidFill>
                <a:latin typeface="Noto Sans Thai"/>
              </a:rPr>
              <a:t>ร้อยตำรวจเอกณัฐวุฒิ สาหร่ายทอง │ โทร: 096-776-8757 │ BSIE v4.0 — Bank Statement Intelligence 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